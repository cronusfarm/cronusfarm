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8" name="Google Shape;50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3"/>
          <p:cNvCxnSpPr/>
          <p:nvPr/>
        </p:nvCxnSpPr>
        <p:spPr>
          <a:xfrm>
            <a:off x="7315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14630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3"/>
          <p:cNvCxnSpPr/>
          <p:nvPr/>
        </p:nvCxnSpPr>
        <p:spPr>
          <a:xfrm>
            <a:off x="21945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3"/>
          <p:cNvCxnSpPr/>
          <p:nvPr/>
        </p:nvCxnSpPr>
        <p:spPr>
          <a:xfrm>
            <a:off x="29260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3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3"/>
          <p:cNvCxnSpPr/>
          <p:nvPr/>
        </p:nvCxnSpPr>
        <p:spPr>
          <a:xfrm>
            <a:off x="4389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3"/>
          <p:cNvCxnSpPr/>
          <p:nvPr/>
        </p:nvCxnSpPr>
        <p:spPr>
          <a:xfrm>
            <a:off x="51206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3"/>
          <p:cNvCxnSpPr/>
          <p:nvPr/>
        </p:nvCxnSpPr>
        <p:spPr>
          <a:xfrm>
            <a:off x="58521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3"/>
          <p:cNvCxnSpPr/>
          <p:nvPr/>
        </p:nvCxnSpPr>
        <p:spPr>
          <a:xfrm>
            <a:off x="6583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3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" name="Google Shape;27;p3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3"/>
          <p:cNvCxnSpPr/>
          <p:nvPr/>
        </p:nvCxnSpPr>
        <p:spPr>
          <a:xfrm>
            <a:off x="87782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" name="Google Shape;29;p3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3"/>
          <p:cNvCxnSpPr/>
          <p:nvPr/>
        </p:nvCxnSpPr>
        <p:spPr>
          <a:xfrm>
            <a:off x="0" y="7315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3"/>
          <p:cNvCxnSpPr/>
          <p:nvPr/>
        </p:nvCxnSpPr>
        <p:spPr>
          <a:xfrm>
            <a:off x="0" y="14630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" name="Google Shape;32;p3"/>
          <p:cNvCxnSpPr/>
          <p:nvPr/>
        </p:nvCxnSpPr>
        <p:spPr>
          <a:xfrm>
            <a:off x="0" y="21945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" name="Google Shape;33;p3"/>
          <p:cNvCxnSpPr/>
          <p:nvPr/>
        </p:nvCxnSpPr>
        <p:spPr>
          <a:xfrm>
            <a:off x="0" y="29260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3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" name="Google Shape;35;p3"/>
          <p:cNvCxnSpPr/>
          <p:nvPr/>
        </p:nvCxnSpPr>
        <p:spPr>
          <a:xfrm>
            <a:off x="0" y="43891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" name="Google Shape;36;p3"/>
          <p:cNvCxnSpPr/>
          <p:nvPr/>
        </p:nvCxnSpPr>
        <p:spPr>
          <a:xfrm>
            <a:off x="0" y="51206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3"/>
          <p:cNvSpPr/>
          <p:nvPr/>
        </p:nvSpPr>
        <p:spPr>
          <a:xfrm>
            <a:off x="5852160" y="-1005840"/>
            <a:ext cx="4572000" cy="4572000"/>
          </a:xfrm>
          <a:prstGeom prst="ellipse">
            <a:avLst/>
          </a:prstGeom>
          <a:solidFill>
            <a:srgbClr val="00C9A7">
              <a:alpha val="12156"/>
            </a:srgbClr>
          </a:solidFill>
          <a:ln cap="flat" cmpd="sng" w="1905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6492240" y="-457200"/>
            <a:ext cx="3291840" cy="3291840"/>
          </a:xfrm>
          <a:prstGeom prst="ellipse">
            <a:avLst/>
          </a:prstGeom>
          <a:solidFill>
            <a:srgbClr val="009988">
              <a:alpha val="7058"/>
            </a:srgbClr>
          </a:solidFill>
          <a:ln cap="flat" cmpd="sng" w="10150">
            <a:solidFill>
              <a:srgbClr val="00C9A7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548640" y="1234440"/>
            <a:ext cx="73152" cy="256032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777240" y="1234440"/>
            <a:ext cx="68580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Trebuchet MS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CronusFarm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777240" y="2057400"/>
            <a:ext cx="6858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2600"/>
              <a:buFont typeface="Trebuchet MS"/>
              <a:buNone/>
            </a:pPr>
            <a:r>
              <a:rPr b="0" i="0" lang="en-US" sz="2600" u="none" cap="none" strike="noStrike">
                <a:solidFill>
                  <a:srgbClr val="00C9A7"/>
                </a:solidFill>
                <a:latin typeface="Trebuchet MS"/>
                <a:ea typeface="Trebuchet MS"/>
                <a:cs typeface="Trebuchet MS"/>
                <a:sym typeface="Trebuchet MS"/>
              </a:rPr>
              <a:t>스마트팜 제어 시스템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777240" y="2633472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CC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B9CC4"/>
                </a:solidFill>
                <a:latin typeface="Calibri"/>
                <a:ea typeface="Calibri"/>
                <a:cs typeface="Calibri"/>
                <a:sym typeface="Calibri"/>
              </a:rPr>
              <a:t>아키텍처 · 하드웨어 · AI 파이프라인 · 개발·배포 워크플로우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777240" y="3429000"/>
            <a:ext cx="1965960" cy="274320"/>
          </a:xfrm>
          <a:prstGeom prst="rect">
            <a:avLst/>
          </a:prstGeom>
          <a:solidFill>
            <a:srgbClr val="122B4A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777240" y="342900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Arduino R4/R3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2880360" y="3429000"/>
            <a:ext cx="1965960" cy="274320"/>
          </a:xfrm>
          <a:prstGeom prst="rect">
            <a:avLst/>
          </a:prstGeom>
          <a:solidFill>
            <a:srgbClr val="122B4A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2880360" y="342900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Node-RED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983480" y="3429000"/>
            <a:ext cx="1965960" cy="274320"/>
          </a:xfrm>
          <a:prstGeom prst="rect">
            <a:avLst/>
          </a:prstGeom>
          <a:solidFill>
            <a:srgbClr val="122B4A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4983480" y="342900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MQTT + USB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7086600" y="3429000"/>
            <a:ext cx="1965960" cy="274320"/>
          </a:xfrm>
          <a:prstGeom prst="rect">
            <a:avLst/>
          </a:prstGeom>
          <a:solidFill>
            <a:srgbClr val="122B4A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7086600" y="342900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Hailo YOLO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777240" y="3794760"/>
            <a:ext cx="1965960" cy="274320"/>
          </a:xfrm>
          <a:prstGeom prst="rect">
            <a:avLst/>
          </a:prstGeom>
          <a:solidFill>
            <a:srgbClr val="122B4A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777240" y="379476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Pi ida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2880360" y="3794760"/>
            <a:ext cx="1965960" cy="274320"/>
          </a:xfrm>
          <a:prstGeom prst="rect">
            <a:avLst/>
          </a:prstGeom>
          <a:solidFill>
            <a:srgbClr val="122B4A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2880360" y="379476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InfluxDB · Grafana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983480" y="3794760"/>
            <a:ext cx="1965960" cy="274320"/>
          </a:xfrm>
          <a:prstGeom prst="rect">
            <a:avLst/>
          </a:prstGeom>
          <a:solidFill>
            <a:srgbClr val="122B4A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4983480" y="379476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farm-ui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7086600" y="3794760"/>
            <a:ext cx="1965960" cy="274320"/>
          </a:xfrm>
          <a:prstGeom prst="rect">
            <a:avLst/>
          </a:prstGeom>
          <a:solidFill>
            <a:srgbClr val="122B4A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7086600" y="379476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SQLite bridge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시스템 아키텍처 개요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C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B9CC4"/>
                </a:solidFill>
                <a:latin typeface="Calibri"/>
                <a:ea typeface="Calibri"/>
                <a:cs typeface="Calibri"/>
                <a:sym typeface="Calibri"/>
              </a:rPr>
              <a:t>Arduino → Node-RED → DB → 시각화 · 제어 전체 흐름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466344" y="1051560"/>
            <a:ext cx="1554480" cy="1389888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56CC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466344" y="1051560"/>
            <a:ext cx="1554480" cy="82296"/>
          </a:xfrm>
          <a:prstGeom prst="rect">
            <a:avLst/>
          </a:prstGeom>
          <a:solidFill>
            <a:srgbClr val="56CC8E"/>
          </a:solidFill>
          <a:ln cap="flat" cmpd="sng" w="12700">
            <a:solidFill>
              <a:srgbClr val="56CC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66344" y="1161288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CC8E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56CC8E"/>
                </a:solidFill>
                <a:latin typeface="Trebuchet MS"/>
                <a:ea typeface="Trebuchet MS"/>
                <a:cs typeface="Trebuchet MS"/>
                <a:sym typeface="Trebuchet MS"/>
              </a:rPr>
              <a:t>현장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12064" y="1581912"/>
            <a:ext cx="14630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R4 WiFi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R3 패널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p4"/>
          <p:cNvCxnSpPr/>
          <p:nvPr/>
        </p:nvCxnSpPr>
        <p:spPr>
          <a:xfrm>
            <a:off x="2020824" y="1746504"/>
            <a:ext cx="109728" cy="0"/>
          </a:xfrm>
          <a:prstGeom prst="straightConnector1">
            <a:avLst/>
          </a:prstGeom>
          <a:noFill/>
          <a:ln cap="flat" cmpd="sng" w="2540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4"/>
          <p:cNvSpPr/>
          <p:nvPr/>
        </p:nvSpPr>
        <p:spPr>
          <a:xfrm>
            <a:off x="2130552" y="1051560"/>
            <a:ext cx="1554480" cy="1389888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2130552" y="1051560"/>
            <a:ext cx="1554480" cy="82296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2130552" y="1161288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C9A7"/>
                </a:solidFill>
                <a:latin typeface="Trebuchet MS"/>
                <a:ea typeface="Trebuchet MS"/>
                <a:cs typeface="Trebuchet MS"/>
                <a:sym typeface="Trebuchet MS"/>
              </a:rPr>
              <a:t>통신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2176272" y="1581912"/>
            <a:ext cx="14630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MQTT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Mosquitto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4"/>
          <p:cNvCxnSpPr/>
          <p:nvPr/>
        </p:nvCxnSpPr>
        <p:spPr>
          <a:xfrm>
            <a:off x="3685032" y="1746504"/>
            <a:ext cx="109728" cy="0"/>
          </a:xfrm>
          <a:prstGeom prst="straightConnector1">
            <a:avLst/>
          </a:prstGeom>
          <a:noFill/>
          <a:ln cap="flat" cmpd="sng" w="2540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4"/>
          <p:cNvSpPr/>
          <p:nvPr/>
        </p:nvSpPr>
        <p:spPr>
          <a:xfrm>
            <a:off x="3794760" y="1051560"/>
            <a:ext cx="1554480" cy="1389888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3794760" y="1051560"/>
            <a:ext cx="1554480" cy="82296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3794760" y="1161288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4FC3F7"/>
                </a:solidFill>
                <a:latin typeface="Trebuchet MS"/>
                <a:ea typeface="Trebuchet MS"/>
                <a:cs typeface="Trebuchet MS"/>
                <a:sym typeface="Trebuchet MS"/>
              </a:rPr>
              <a:t>허브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3840480" y="1581912"/>
            <a:ext cx="14630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Pi ida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Node-RED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4"/>
          <p:cNvCxnSpPr/>
          <p:nvPr/>
        </p:nvCxnSpPr>
        <p:spPr>
          <a:xfrm>
            <a:off x="5349240" y="1746504"/>
            <a:ext cx="109728" cy="0"/>
          </a:xfrm>
          <a:prstGeom prst="straightConnector1">
            <a:avLst/>
          </a:prstGeom>
          <a:noFill/>
          <a:ln cap="flat" cmpd="sng" w="2540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4"/>
          <p:cNvSpPr/>
          <p:nvPr/>
        </p:nvSpPr>
        <p:spPr>
          <a:xfrm>
            <a:off x="5458968" y="1051560"/>
            <a:ext cx="1554480" cy="1389888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FFB74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5458968" y="1051560"/>
            <a:ext cx="1554480" cy="82296"/>
          </a:xfrm>
          <a:prstGeom prst="rect">
            <a:avLst/>
          </a:prstGeom>
          <a:solidFill>
            <a:srgbClr val="FFB74D"/>
          </a:solidFill>
          <a:ln cap="flat" cmpd="sng" w="12700">
            <a:solidFill>
              <a:srgbClr val="FFB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5458968" y="1161288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74D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B74D"/>
                </a:solidFill>
                <a:latin typeface="Trebuchet MS"/>
                <a:ea typeface="Trebuchet MS"/>
                <a:cs typeface="Trebuchet MS"/>
                <a:sym typeface="Trebuchet MS"/>
              </a:rPr>
              <a:t>저장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5504688" y="1581912"/>
            <a:ext cx="14630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SQLite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InfluxDB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Google Shape;86;p4"/>
          <p:cNvCxnSpPr/>
          <p:nvPr/>
        </p:nvCxnSpPr>
        <p:spPr>
          <a:xfrm>
            <a:off x="7013448" y="1746504"/>
            <a:ext cx="109728" cy="0"/>
          </a:xfrm>
          <a:prstGeom prst="straightConnector1">
            <a:avLst/>
          </a:prstGeom>
          <a:noFill/>
          <a:ln cap="flat" cmpd="sng" w="2540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4"/>
          <p:cNvSpPr/>
          <p:nvPr/>
        </p:nvSpPr>
        <p:spPr>
          <a:xfrm>
            <a:off x="7123176" y="1051560"/>
            <a:ext cx="1554480" cy="1389888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CE93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7123176" y="1051560"/>
            <a:ext cx="1554480" cy="82296"/>
          </a:xfrm>
          <a:prstGeom prst="rect">
            <a:avLst/>
          </a:prstGeom>
          <a:solidFill>
            <a:srgbClr val="CE93D8"/>
          </a:solidFill>
          <a:ln cap="flat" cmpd="sng" w="12700">
            <a:solidFill>
              <a:srgbClr val="CE9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7123176" y="1161288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CE93D8"/>
                </a:solidFill>
                <a:latin typeface="Trebuchet MS"/>
                <a:ea typeface="Trebuchet MS"/>
                <a:cs typeface="Trebuchet MS"/>
                <a:sym typeface="Trebuchet MS"/>
              </a:rPr>
              <a:t>시각화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7168896" y="1581912"/>
            <a:ext cx="14630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Grafana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farm-ui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365760" y="26517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C9A7"/>
                </a:solidFill>
                <a:latin typeface="Trebuchet MS"/>
                <a:ea typeface="Trebuchet MS"/>
                <a:cs typeface="Trebuchet MS"/>
                <a:sym typeface="Trebuchet MS"/>
              </a:rPr>
              <a:t>/ui Dashboard 구조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365760" y="3017520"/>
            <a:ext cx="2011680" cy="1005840"/>
          </a:xfrm>
          <a:prstGeom prst="rect">
            <a:avLst/>
          </a:prstGeom>
          <a:solidFill>
            <a:srgbClr val="0F2240"/>
          </a:solidFill>
          <a:ln cap="flat" cmpd="sng" w="19050">
            <a:solidFill>
              <a:srgbClr val="56CC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365760" y="3090672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CC8E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56CC8E"/>
                </a:solidFill>
                <a:latin typeface="Trebuchet MS"/>
                <a:ea typeface="Trebuchet MS"/>
                <a:cs typeface="Trebuchet MS"/>
                <a:sym typeface="Trebuchet MS"/>
              </a:rPr>
              <a:t>모니터 탭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11480" y="3438144"/>
            <a:ext cx="19202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타일·타임라인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PHW·AI 작물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2514600" y="3017520"/>
            <a:ext cx="2011680" cy="1005840"/>
          </a:xfrm>
          <a:prstGeom prst="rect">
            <a:avLst/>
          </a:prstGeom>
          <a:solidFill>
            <a:srgbClr val="0F2240"/>
          </a:solidFill>
          <a:ln cap="flat" cmpd="sng" w="19050">
            <a:solidFill>
              <a:srgbClr val="CE9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2514600" y="3090672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CE93D8"/>
                </a:solidFill>
                <a:latin typeface="Trebuchet MS"/>
                <a:ea typeface="Trebuchet MS"/>
                <a:cs typeface="Trebuchet MS"/>
                <a:sym typeface="Trebuchet MS"/>
              </a:rPr>
              <a:t>설정 탭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2560320" y="3438144"/>
            <a:ext cx="19202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Bed·스케줄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API iframe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663440" y="3017520"/>
            <a:ext cx="2011680" cy="1005840"/>
          </a:xfrm>
          <a:prstGeom prst="rect">
            <a:avLst/>
          </a:prstGeom>
          <a:solidFill>
            <a:srgbClr val="0F2240"/>
          </a:solidFill>
          <a:ln cap="flat" cmpd="sng" w="19050">
            <a:solidFill>
              <a:srgbClr val="FFB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4663440" y="3090672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74D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B74D"/>
                </a:solidFill>
                <a:latin typeface="Trebuchet MS"/>
                <a:ea typeface="Trebuchet MS"/>
                <a:cs typeface="Trebuchet MS"/>
                <a:sym typeface="Trebuchet MS"/>
              </a:rPr>
              <a:t>MQTT 탭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709160" y="3438144"/>
            <a:ext cx="19202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cmd·tele파싱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SQLite HTTP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812280" y="3017520"/>
            <a:ext cx="2011680" cy="1005840"/>
          </a:xfrm>
          <a:prstGeom prst="rect">
            <a:avLst/>
          </a:prstGeom>
          <a:solidFill>
            <a:srgbClr val="0F2240"/>
          </a:solidFill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6812280" y="3090672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4FC3F7"/>
                </a:solidFill>
                <a:latin typeface="Trebuchet MS"/>
                <a:ea typeface="Trebuchet MS"/>
                <a:cs typeface="Trebuchet MS"/>
                <a:sym typeface="Trebuchet MS"/>
              </a:rPr>
              <a:t>개발환경 탭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858000" y="3438144"/>
            <a:ext cx="19202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PHW3988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devflow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65760" y="4160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0C9A7"/>
                </a:solidFill>
                <a:latin typeface="Trebuchet MS"/>
                <a:ea typeface="Trebuchet MS"/>
                <a:cs typeface="Trebuchet MS"/>
                <a:sym typeface="Trebuchet MS"/>
              </a:rPr>
              <a:t>데이터 스택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365760" y="4480560"/>
            <a:ext cx="2816352" cy="502920"/>
          </a:xfrm>
          <a:prstGeom prst="rect">
            <a:avLst/>
          </a:prstGeom>
          <a:solidFill>
            <a:srgbClr val="122B4A"/>
          </a:solidFill>
          <a:ln cap="flat" cmpd="sng" w="15225">
            <a:solidFill>
              <a:srgbClr val="FFB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457200" y="448056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74D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B74D"/>
                </a:solidFill>
                <a:latin typeface="Trebuchet MS"/>
                <a:ea typeface="Trebuchet MS"/>
                <a:cs typeface="Trebuchet MS"/>
                <a:sym typeface="Trebuchet MS"/>
              </a:rPr>
              <a:t>SQLite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783080" y="4480560"/>
            <a:ext cx="13533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관계형 · 작물·스케줄·AI 메타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3291840" y="4480560"/>
            <a:ext cx="2816352" cy="502920"/>
          </a:xfrm>
          <a:prstGeom prst="rect">
            <a:avLst/>
          </a:prstGeom>
          <a:solidFill>
            <a:srgbClr val="122B4A"/>
          </a:solidFill>
          <a:ln cap="flat" cmpd="sng" w="15225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3383280" y="448056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0C9A7"/>
                </a:solidFill>
                <a:latin typeface="Trebuchet MS"/>
                <a:ea typeface="Trebuchet MS"/>
                <a:cs typeface="Trebuchet MS"/>
                <a:sym typeface="Trebuchet MS"/>
              </a:rPr>
              <a:t>InfluxDB  bucket: CronusFarm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709160" y="4480560"/>
            <a:ext cx="13533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시계열 · tele·알림·AI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217920" y="4480560"/>
            <a:ext cx="2816352" cy="502920"/>
          </a:xfrm>
          <a:prstGeom prst="rect">
            <a:avLst/>
          </a:prstGeom>
          <a:solidFill>
            <a:srgbClr val="122B4A"/>
          </a:solidFill>
          <a:ln cap="flat" cmpd="sng" w="15225">
            <a:solidFill>
              <a:srgbClr val="CE9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6309360" y="448056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CE93D8"/>
                </a:solidFill>
                <a:latin typeface="Trebuchet MS"/>
                <a:ea typeface="Trebuchet MS"/>
                <a:cs typeface="Trebuchet MS"/>
                <a:sym typeface="Trebuchet MS"/>
              </a:rPr>
              <a:t>Grafana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635240" y="4480560"/>
            <a:ext cx="13533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Flux 패널 · 알림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하드웨어 구성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C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B9CC4"/>
                </a:solidFill>
                <a:latin typeface="Calibri"/>
                <a:ea typeface="Calibri"/>
                <a:cs typeface="Calibri"/>
                <a:sym typeface="Calibri"/>
              </a:rPr>
              <a:t>UNO R4 WiFi (메인 제어)  ←I2C 0x38→  UNO R3 (2004A LCD 패널)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320040" y="1051560"/>
            <a:ext cx="4023360" cy="3566160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56CC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320040" y="1051560"/>
            <a:ext cx="4023360" cy="82296"/>
          </a:xfrm>
          <a:prstGeom prst="rect">
            <a:avLst/>
          </a:prstGeom>
          <a:solidFill>
            <a:srgbClr val="56CC8E"/>
          </a:solidFill>
          <a:ln cap="flat" cmpd="sng" w="12700">
            <a:solidFill>
              <a:srgbClr val="56CC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411480" y="1133856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CC8E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56CC8E"/>
                </a:solidFill>
                <a:latin typeface="Trebuchet MS"/>
                <a:ea typeface="Trebuchet MS"/>
                <a:cs typeface="Trebuchet MS"/>
                <a:sym typeface="Trebuchet MS"/>
              </a:rPr>
              <a:t>UNO R4 WiFi  (메인)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457200" y="1572768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릴레이 / 펌프 / 팬 GPIO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57200" y="1993392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MQTT tele (1Hz) · cmd 수신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457200" y="2414016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WiFi 연결 · WAN 통신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57200" y="2834640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I2C 마스터 A4(SDA) / A5(SCL) → R3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457200" y="3255264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RTC 내장 · USB Upload 주의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370832" y="2468880"/>
            <a:ext cx="402336" cy="548640"/>
          </a:xfrm>
          <a:prstGeom prst="rect">
            <a:avLst/>
          </a:prstGeom>
          <a:solidFill>
            <a:srgbClr val="0D1828"/>
          </a:solidFill>
          <a:ln cap="flat" cmpd="sng" w="1905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4361688" y="2487168"/>
            <a:ext cx="42062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I2C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0x38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800600" y="1051560"/>
            <a:ext cx="4023360" cy="3566160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4800600" y="1051560"/>
            <a:ext cx="4023360" cy="82296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4892040" y="1133856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4FC3F7"/>
                </a:solidFill>
                <a:latin typeface="Trebuchet MS"/>
                <a:ea typeface="Trebuchet MS"/>
                <a:cs typeface="Trebuchet MS"/>
                <a:sym typeface="Trebuchet MS"/>
              </a:rPr>
              <a:t>UNO R3  (LCD 패널)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4937760" y="1572768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20×4 2004A LCD 표시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4937760" y="1993392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엔코더 다이얼 · 클릭 (EXP1-2 → D8)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937760" y="2414016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부저 (EXP1-1 → D9) · I2C 슬레이브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937760" y="2834640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EXP1: LCD EN/RS/D4–D7 + GND/VCC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4937760" y="3255264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EXP2: ENC A(A0) / B(A1) · SD CS(D13)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D1828"/>
          </a:solidFill>
          <a:ln cap="flat" cmpd="sng" w="12700">
            <a:solidFill>
              <a:srgbClr val="FFB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457200" y="4663440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74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B74D"/>
                </a:solidFill>
                <a:latin typeface="Calibri"/>
                <a:ea typeface="Calibri"/>
                <a:cs typeface="Calibri"/>
                <a:sym typeface="Calibri"/>
              </a:rPr>
              <a:t>⚠  UART D0/D1 직결 금지 (업로드 충돌)  ·  R4 A4/A5 ↔ R3 A4/A5 + GND 공통  ·  EXP 클릭은 EXP1-2→D8 (EXP2-2 아님)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패널 LCD 부팅 시퀀스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C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B9CC4"/>
                </a:solidFill>
                <a:latin typeface="Calibri"/>
                <a:ea typeface="Calibri"/>
                <a:cs typeface="Calibri"/>
                <a:sym typeface="Calibri"/>
              </a:rPr>
              <a:t>R3 단독 → R4 스플래시 → 대기 → 환영 → 브라우즈 → 에딧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274320" y="777240"/>
            <a:ext cx="2331720" cy="1536192"/>
          </a:xfrm>
          <a:prstGeom prst="rect">
            <a:avLst/>
          </a:prstGeom>
          <a:solidFill>
            <a:srgbClr val="040A10"/>
          </a:solidFill>
          <a:ln cap="flat" cmpd="sng" w="2540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274320" y="521208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CC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B9CC4"/>
                </a:solidFill>
                <a:latin typeface="Calibri"/>
                <a:ea typeface="Calibri"/>
                <a:cs typeface="Calibri"/>
                <a:sym typeface="Calibri"/>
              </a:rPr>
              <a:t>A. R3 단독 부팅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365760" y="905256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FF88"/>
                </a:solidFill>
                <a:latin typeface="Consolas"/>
                <a:ea typeface="Consolas"/>
                <a:cs typeface="Consolas"/>
                <a:sym typeface="Consolas"/>
              </a:rPr>
              <a:t>CronusFarm Panel  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365760" y="121615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FF88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365760" y="1527048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FF88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365760" y="1837944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FF88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2834640" y="777240"/>
            <a:ext cx="2331720" cy="1536192"/>
          </a:xfrm>
          <a:prstGeom prst="rect">
            <a:avLst/>
          </a:prstGeom>
          <a:solidFill>
            <a:srgbClr val="040A10"/>
          </a:solidFill>
          <a:ln cap="flat" cmpd="sng" w="25400">
            <a:solidFill>
              <a:srgbClr val="56CC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2834640" y="521208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CC8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6CC8E"/>
                </a:solidFill>
                <a:latin typeface="Calibri"/>
                <a:ea typeface="Calibri"/>
                <a:cs typeface="Calibri"/>
                <a:sym typeface="Calibri"/>
              </a:rPr>
              <a:t>B. R4 스플래시 (WiFi OK)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2926080" y="905256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FF88"/>
                </a:solidFill>
                <a:latin typeface="Consolas"/>
                <a:ea typeface="Consolas"/>
                <a:cs typeface="Consolas"/>
                <a:sym typeface="Consolas"/>
              </a:rPr>
              <a:t>CronusFarm        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2926080" y="121615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FF88"/>
                </a:solidFill>
                <a:latin typeface="Consolas"/>
                <a:ea typeface="Consolas"/>
                <a:cs typeface="Consolas"/>
                <a:sym typeface="Consolas"/>
              </a:rPr>
              <a:t>WiFi OK           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2926080" y="1527048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FF88"/>
                </a:solidFill>
                <a:latin typeface="Consolas"/>
                <a:ea typeface="Consolas"/>
                <a:cs typeface="Consolas"/>
                <a:sym typeface="Consolas"/>
              </a:rPr>
              <a:t>MQTT OK           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2926080" y="1837944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FF88"/>
                </a:solidFill>
                <a:latin typeface="Consolas"/>
                <a:ea typeface="Consolas"/>
                <a:cs typeface="Consolas"/>
                <a:sym typeface="Consolas"/>
              </a:rPr>
              <a:t>Dial/Push Ready   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5394960" y="777240"/>
            <a:ext cx="2331720" cy="1536192"/>
          </a:xfrm>
          <a:prstGeom prst="rect">
            <a:avLst/>
          </a:prstGeom>
          <a:solidFill>
            <a:srgbClr val="040A10"/>
          </a:solidFill>
          <a:ln cap="flat" cmpd="sng" w="25400">
            <a:solidFill>
              <a:srgbClr val="FFB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5394960" y="521208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74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B74D"/>
                </a:solidFill>
                <a:latin typeface="Calibri"/>
                <a:ea typeface="Calibri"/>
                <a:cs typeface="Calibri"/>
                <a:sym typeface="Calibri"/>
              </a:rPr>
              <a:t>B'. R4 스플래시 (MQTT --)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5486400" y="905256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FF88"/>
                </a:solidFill>
                <a:latin typeface="Consolas"/>
                <a:ea typeface="Consolas"/>
                <a:cs typeface="Consolas"/>
                <a:sym typeface="Consolas"/>
              </a:rPr>
              <a:t>CronusFarm        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5486400" y="121615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FF88"/>
                </a:solidFill>
                <a:latin typeface="Consolas"/>
                <a:ea typeface="Consolas"/>
                <a:cs typeface="Consolas"/>
                <a:sym typeface="Consolas"/>
              </a:rPr>
              <a:t>WiFi OK           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486400" y="1527048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FF88"/>
                </a:solidFill>
                <a:latin typeface="Consolas"/>
                <a:ea typeface="Consolas"/>
                <a:cs typeface="Consolas"/>
                <a:sym typeface="Consolas"/>
              </a:rPr>
              <a:t>MQTT --           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486400" y="1837944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FF88"/>
                </a:solidFill>
                <a:latin typeface="Consolas"/>
                <a:ea typeface="Consolas"/>
                <a:cs typeface="Consolas"/>
                <a:sym typeface="Consolas"/>
              </a:rPr>
              <a:t>Dial/Push Ready   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274320" y="2834640"/>
            <a:ext cx="2331720" cy="1536192"/>
          </a:xfrm>
          <a:prstGeom prst="rect">
            <a:avLst/>
          </a:prstGeom>
          <a:solidFill>
            <a:srgbClr val="040A10"/>
          </a:solidFill>
          <a:ln cap="flat" cmpd="sng" w="254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274320" y="2578608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C. WiFi 대기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65760" y="2962656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FF88"/>
                </a:solidFill>
                <a:latin typeface="Consolas"/>
                <a:ea typeface="Consolas"/>
                <a:cs typeface="Consolas"/>
                <a:sym typeface="Consolas"/>
              </a:rPr>
              <a:t>LED A1 D2         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365760" y="327355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FF88"/>
                </a:solidFill>
                <a:latin typeface="Consolas"/>
                <a:ea typeface="Consolas"/>
                <a:cs typeface="Consolas"/>
                <a:sym typeface="Consolas"/>
              </a:rPr>
              <a:t>WiFi OK  MQTT --  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365760" y="3584448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FF88"/>
                </a:solidFill>
                <a:latin typeface="Consolas"/>
                <a:ea typeface="Consolas"/>
                <a:cs typeface="Consolas"/>
                <a:sym typeface="Consolas"/>
              </a:rPr>
              <a:t>Waiting link...   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365760" y="3895344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FF88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2834640" y="2834640"/>
            <a:ext cx="2331720" cy="1536192"/>
          </a:xfrm>
          <a:prstGeom prst="rect">
            <a:avLst/>
          </a:prstGeom>
          <a:solidFill>
            <a:srgbClr val="040A10"/>
          </a:solidFill>
          <a:ln cap="flat" cmpd="sng" w="254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2834640" y="2578608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D. 환영 (RTC 정상)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2926080" y="2962656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FF88"/>
                </a:solidFill>
                <a:latin typeface="Consolas"/>
                <a:ea typeface="Consolas"/>
                <a:cs typeface="Consolas"/>
                <a:sym typeface="Consolas"/>
              </a:rPr>
              <a:t>Welcome to        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2926080" y="327355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FF88"/>
                </a:solidFill>
                <a:latin typeface="Consolas"/>
                <a:ea typeface="Consolas"/>
                <a:cs typeface="Consolas"/>
                <a:sym typeface="Consolas"/>
              </a:rPr>
              <a:t>CronusFarm        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2926080" y="3584448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FF88"/>
                </a:solidFill>
                <a:latin typeface="Consolas"/>
                <a:ea typeface="Consolas"/>
                <a:cs typeface="Consolas"/>
                <a:sym typeface="Consolas"/>
              </a:rPr>
              <a:t>2026.05.12 (Mon)  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2926080" y="3895344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FF88"/>
                </a:solidFill>
                <a:latin typeface="Consolas"/>
                <a:ea typeface="Consolas"/>
                <a:cs typeface="Consolas"/>
                <a:sym typeface="Consolas"/>
              </a:rPr>
              <a:t>12:34:56 PM       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5394960" y="2834640"/>
            <a:ext cx="2331720" cy="1536192"/>
          </a:xfrm>
          <a:prstGeom prst="rect">
            <a:avLst/>
          </a:prstGeom>
          <a:solidFill>
            <a:srgbClr val="040A10"/>
          </a:solidFill>
          <a:ln cap="flat" cmpd="sng" w="25400">
            <a:solidFill>
              <a:srgbClr val="56CC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5394960" y="2578608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CC8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6CC8E"/>
                </a:solidFill>
                <a:latin typeface="Calibri"/>
                <a:ea typeface="Calibri"/>
                <a:cs typeface="Calibri"/>
                <a:sym typeface="Calibri"/>
              </a:rPr>
              <a:t>E. 브라우즈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5486400" y="2962656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FF88"/>
                </a:solidFill>
                <a:latin typeface="Consolas"/>
                <a:ea typeface="Consolas"/>
                <a:cs typeface="Consolas"/>
                <a:sym typeface="Consolas"/>
              </a:rPr>
              <a:t>LED A1 (D2)       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5486400" y="327355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FF88"/>
                </a:solidFill>
                <a:latin typeface="Consolas"/>
                <a:ea typeface="Consolas"/>
                <a:cs typeface="Consolas"/>
                <a:sym typeface="Consolas"/>
              </a:rPr>
              <a:t>MODE:AUTO         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5486400" y="3584448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FF88"/>
                </a:solidFill>
                <a:latin typeface="Consolas"/>
                <a:ea typeface="Consolas"/>
                <a:cs typeface="Consolas"/>
                <a:sym typeface="Consolas"/>
              </a:rPr>
              <a:t>STATE:ON     CH1/15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5486400" y="3895344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FF88"/>
                </a:solidFill>
                <a:latin typeface="Consolas"/>
                <a:ea typeface="Consolas"/>
                <a:cs typeface="Consolas"/>
                <a:sym typeface="Consolas"/>
              </a:rPr>
              <a:t>Dial:Next, Push:Edit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7315200" y="777240"/>
            <a:ext cx="2331720" cy="1536192"/>
          </a:xfrm>
          <a:prstGeom prst="rect">
            <a:avLst/>
          </a:prstGeom>
          <a:solidFill>
            <a:srgbClr val="040A10"/>
          </a:solidFill>
          <a:ln cap="flat" cmpd="sng" w="25400">
            <a:solidFill>
              <a:srgbClr val="CE9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7315200" y="521208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E93D8"/>
                </a:solidFill>
                <a:latin typeface="Calibri"/>
                <a:ea typeface="Calibri"/>
                <a:cs typeface="Calibri"/>
                <a:sym typeface="Calibri"/>
              </a:rPr>
              <a:t>F. 에딧 (EDIT)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7406640" y="905256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FF88"/>
                </a:solidFill>
                <a:latin typeface="Consolas"/>
                <a:ea typeface="Consolas"/>
                <a:cs typeface="Consolas"/>
                <a:sym typeface="Consolas"/>
              </a:rPr>
              <a:t>Setting Mode (EDIT)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7406640" y="121615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FF88"/>
                </a:solidFill>
                <a:latin typeface="Consolas"/>
                <a:ea typeface="Consolas"/>
                <a:cs typeface="Consolas"/>
                <a:sym typeface="Consolas"/>
              </a:rPr>
              <a:t>LED A1 (D2)       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7406640" y="1527048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FF88"/>
                </a:solidFill>
                <a:latin typeface="Consolas"/>
                <a:ea typeface="Consolas"/>
                <a:cs typeface="Consolas"/>
                <a:sym typeface="Consolas"/>
              </a:rPr>
              <a:t>SET:AUTO          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7406640" y="1837944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FF88"/>
                </a:solidFill>
                <a:latin typeface="Consolas"/>
                <a:ea typeface="Consolas"/>
                <a:cs typeface="Consolas"/>
                <a:sym typeface="Consolas"/>
              </a:rPr>
              <a:t>Dial:Sel Push:OK  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7315200" y="2834640"/>
            <a:ext cx="2331720" cy="1536192"/>
          </a:xfrm>
          <a:prstGeom prst="rect">
            <a:avLst/>
          </a:prstGeom>
          <a:solidFill>
            <a:srgbClr val="040A10"/>
          </a:solidFill>
          <a:ln cap="flat" cmpd="sng" w="25400">
            <a:solidFill>
              <a:srgbClr val="EF53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7315200" y="2578608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53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F5350"/>
                </a:solidFill>
                <a:latin typeface="Calibri"/>
                <a:ea typeface="Calibri"/>
                <a:cs typeface="Calibri"/>
                <a:sym typeface="Calibri"/>
              </a:rPr>
              <a:t>D'. RTC 실패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7406640" y="2962656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FF88"/>
                </a:solidFill>
                <a:latin typeface="Consolas"/>
                <a:ea typeface="Consolas"/>
                <a:cs typeface="Consolas"/>
                <a:sym typeface="Consolas"/>
              </a:rPr>
              <a:t>Welcome to        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7406640" y="327355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FF88"/>
                </a:solidFill>
                <a:latin typeface="Consolas"/>
                <a:ea typeface="Consolas"/>
                <a:cs typeface="Consolas"/>
                <a:sym typeface="Consolas"/>
              </a:rPr>
              <a:t>CronusFarm        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7406640" y="3584448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FF88"/>
                </a:solidFill>
                <a:latin typeface="Consolas"/>
                <a:ea typeface="Consolas"/>
                <a:cs typeface="Consolas"/>
                <a:sym typeface="Consolas"/>
              </a:rPr>
              <a:t>RTC -- set time   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7406640" y="3895344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F88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FF88"/>
                </a:solidFill>
                <a:latin typeface="Consolas"/>
                <a:ea typeface="Consolas"/>
                <a:cs typeface="Consolas"/>
                <a:sym typeface="Consolas"/>
              </a:rPr>
              <a:t>--:--:--          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" name="Google Shape;198;p6"/>
          <p:cNvCxnSpPr/>
          <p:nvPr/>
        </p:nvCxnSpPr>
        <p:spPr>
          <a:xfrm>
            <a:off x="2660904" y="1545336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" name="Google Shape;199;p6"/>
          <p:cNvCxnSpPr/>
          <p:nvPr/>
        </p:nvCxnSpPr>
        <p:spPr>
          <a:xfrm>
            <a:off x="5221224" y="1545336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" name="Google Shape;200;p6"/>
          <p:cNvCxnSpPr/>
          <p:nvPr/>
        </p:nvCxnSpPr>
        <p:spPr>
          <a:xfrm>
            <a:off x="7781544" y="1545336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6"/>
          <p:cNvSpPr/>
          <p:nvPr/>
        </p:nvSpPr>
        <p:spPr>
          <a:xfrm>
            <a:off x="274320" y="4663440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CC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B9CC4"/>
                </a:solidFill>
                <a:latin typeface="Calibri"/>
                <a:ea typeface="Calibri"/>
                <a:cs typeface="Calibri"/>
                <a:sym typeface="Calibri"/>
              </a:rPr>
              <a:t>다이얼: OFF → ON → AUTO 순환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통신 흐름 — 하이브리드 구성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C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B9CC4"/>
                </a:solidFill>
                <a:latin typeface="Calibri"/>
                <a:ea typeface="Calibri"/>
                <a:cs typeface="Calibri"/>
                <a:sym typeface="Calibri"/>
              </a:rPr>
              <a:t>USB primary (tele 1Hz) + Mosquitto 유지 — MQTT offline이어도 farm 정상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274320" y="1280160"/>
            <a:ext cx="1664208" cy="914400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56CC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320040" y="1335024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CC8E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56CC8E"/>
                </a:solidFill>
                <a:latin typeface="Trebuchet MS"/>
                <a:ea typeface="Trebuchet MS"/>
                <a:cs typeface="Trebuchet MS"/>
                <a:sym typeface="Trebuchet MS"/>
              </a:rPr>
              <a:t>R4 WiFi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320040" y="1737360"/>
            <a:ext cx="157276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현장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센서·릴레이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274320" y="2926080"/>
            <a:ext cx="1664208" cy="914400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320040" y="2980944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0C9A7"/>
                </a:solidFill>
                <a:latin typeface="Trebuchet MS"/>
                <a:ea typeface="Trebuchet MS"/>
                <a:cs typeface="Trebuchet MS"/>
                <a:sym typeface="Trebuchet MS"/>
              </a:rPr>
              <a:t>USB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0C9A7"/>
                </a:solidFill>
                <a:latin typeface="Trebuchet MS"/>
                <a:ea typeface="Trebuchet MS"/>
                <a:cs typeface="Trebuchet MS"/>
                <a:sym typeface="Trebuchet MS"/>
              </a:rPr>
              <a:t>ttyACM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320040" y="3383280"/>
            <a:ext cx="157276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tele 1Hz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primary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2148840" y="2926080"/>
            <a:ext cx="1664208" cy="914400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2194560" y="2980944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DB6AC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4DB6AC"/>
                </a:solidFill>
                <a:latin typeface="Trebuchet MS"/>
                <a:ea typeface="Trebuchet MS"/>
                <a:cs typeface="Trebuchet MS"/>
                <a:sym typeface="Trebuchet MS"/>
              </a:rPr>
              <a:t>r4-serial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2194560" y="3383280"/>
            <a:ext cx="157276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:18767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데몬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4023360" y="2926080"/>
            <a:ext cx="1664208" cy="914400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FFB74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4069080" y="2980944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74D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B74D"/>
                </a:solidFill>
                <a:latin typeface="Trebuchet MS"/>
                <a:ea typeface="Trebuchet MS"/>
                <a:cs typeface="Trebuchet MS"/>
                <a:sym typeface="Trebuchet MS"/>
              </a:rPr>
              <a:t>SQLite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74D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B74D"/>
                </a:solidFill>
                <a:latin typeface="Trebuchet MS"/>
                <a:ea typeface="Trebuchet MS"/>
                <a:cs typeface="Trebuchet MS"/>
                <a:sym typeface="Trebuchet MS"/>
              </a:rPr>
              <a:t>Bridge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4069080" y="3383280"/>
            <a:ext cx="157276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:18766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ingest OK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6126480" y="1691640"/>
            <a:ext cx="1664208" cy="914400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6172200" y="1746504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4FC3F7"/>
                </a:solidFill>
                <a:latin typeface="Trebuchet MS"/>
                <a:ea typeface="Trebuchet MS"/>
                <a:cs typeface="Trebuchet MS"/>
                <a:sym typeface="Trebuchet MS"/>
              </a:rPr>
              <a:t>Node-RED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6172200" y="2148840"/>
            <a:ext cx="157276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Pi ida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허브·API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6126480" y="3108960"/>
            <a:ext cx="1664208" cy="914400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CE93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6172200" y="3163824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CE93D8"/>
                </a:solidFill>
                <a:latin typeface="Trebuchet MS"/>
                <a:ea typeface="Trebuchet MS"/>
                <a:cs typeface="Trebuchet MS"/>
                <a:sym typeface="Trebuchet MS"/>
              </a:rPr>
              <a:t>Mosquitto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6172200" y="3566160"/>
            <a:ext cx="157276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KMA·NR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보조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7909560" y="1691640"/>
            <a:ext cx="1664208" cy="914400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7955280" y="1746504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0C9A7"/>
                </a:solidFill>
                <a:latin typeface="Trebuchet MS"/>
                <a:ea typeface="Trebuchet MS"/>
                <a:cs typeface="Trebuchet MS"/>
                <a:sym typeface="Trebuchet MS"/>
              </a:rPr>
              <a:t>farm-ui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0C9A7"/>
                </a:solidFill>
                <a:latin typeface="Trebuchet MS"/>
                <a:ea typeface="Trebuchet MS"/>
                <a:cs typeface="Trebuchet MS"/>
                <a:sym typeface="Trebuchet MS"/>
              </a:rPr>
              <a:t>/ui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7955280" y="2148840"/>
            <a:ext cx="157276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대시보드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모니터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p7"/>
          <p:cNvCxnSpPr/>
          <p:nvPr/>
        </p:nvCxnSpPr>
        <p:spPr>
          <a:xfrm>
            <a:off x="749808" y="2194560"/>
            <a:ext cx="0" cy="731520"/>
          </a:xfrm>
          <a:prstGeom prst="straightConnector1">
            <a:avLst/>
          </a:prstGeom>
          <a:noFill/>
          <a:ln cap="flat" cmpd="sng" w="2540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" name="Google Shape;232;p7"/>
          <p:cNvCxnSpPr/>
          <p:nvPr/>
        </p:nvCxnSpPr>
        <p:spPr>
          <a:xfrm>
            <a:off x="1984248" y="3383280"/>
            <a:ext cx="164592" cy="0"/>
          </a:xfrm>
          <a:prstGeom prst="straightConnector1">
            <a:avLst/>
          </a:prstGeom>
          <a:noFill/>
          <a:ln cap="flat" cmpd="sng" w="2540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7"/>
          <p:cNvCxnSpPr/>
          <p:nvPr/>
        </p:nvCxnSpPr>
        <p:spPr>
          <a:xfrm>
            <a:off x="3858768" y="3383280"/>
            <a:ext cx="164592" cy="0"/>
          </a:xfrm>
          <a:prstGeom prst="straightConnector1">
            <a:avLst/>
          </a:prstGeom>
          <a:noFill/>
          <a:ln cap="flat" cmpd="sng" w="2540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7"/>
          <p:cNvCxnSpPr/>
          <p:nvPr/>
        </p:nvCxnSpPr>
        <p:spPr>
          <a:xfrm flipH="1" rot="10800000">
            <a:off x="5687568" y="2157984"/>
            <a:ext cx="438912" cy="1097280"/>
          </a:xfrm>
          <a:prstGeom prst="straightConnector1">
            <a:avLst/>
          </a:prstGeom>
          <a:noFill/>
          <a:ln cap="flat" cmpd="sng" w="2540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" name="Google Shape;235;p7"/>
          <p:cNvCxnSpPr/>
          <p:nvPr/>
        </p:nvCxnSpPr>
        <p:spPr>
          <a:xfrm>
            <a:off x="7744968" y="2148840"/>
            <a:ext cx="164592" cy="0"/>
          </a:xfrm>
          <a:prstGeom prst="straightConnector1">
            <a:avLst/>
          </a:prstGeom>
          <a:noFill/>
          <a:ln cap="flat" cmpd="sng" w="2540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7"/>
          <p:cNvSpPr/>
          <p:nvPr/>
        </p:nvSpPr>
        <p:spPr>
          <a:xfrm>
            <a:off x="320040" y="4315968"/>
            <a:ext cx="4114800" cy="548640"/>
          </a:xfrm>
          <a:prstGeom prst="rect">
            <a:avLst/>
          </a:prstGeom>
          <a:solidFill>
            <a:srgbClr val="0A1820"/>
          </a:solidFill>
          <a:ln cap="flat" cmpd="sng" w="12700">
            <a:solidFill>
              <a:srgbClr val="56CC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320040" y="4315968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CC8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6CC8E"/>
                </a:solidFill>
                <a:latin typeface="Calibri"/>
                <a:ea typeface="Calibri"/>
                <a:cs typeface="Calibri"/>
                <a:sym typeface="Calibri"/>
              </a:rPr>
              <a:t>✅  tele_sample 1Hz = USB primary 정상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CC8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6CC8E"/>
                </a:solidFill>
                <a:latin typeface="Calibri"/>
                <a:ea typeface="Calibri"/>
                <a:cs typeface="Calibri"/>
                <a:sym typeface="Calibri"/>
              </a:rPr>
              <a:t>mqtt_status_log offline ≠ farm 중단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4709160" y="4315968"/>
            <a:ext cx="4114800" cy="548640"/>
          </a:xfrm>
          <a:prstGeom prst="rect">
            <a:avLst/>
          </a:prstGeom>
          <a:solidFill>
            <a:srgbClr val="0A1820"/>
          </a:solidFill>
          <a:ln cap="flat" cmpd="sng" w="12700">
            <a:solidFill>
              <a:srgbClr val="FFB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4709160" y="4315968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74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B74D"/>
                </a:solidFill>
                <a:latin typeface="Calibri"/>
                <a:ea typeface="Calibri"/>
                <a:cs typeface="Calibri"/>
                <a:sym typeface="Calibri"/>
              </a:rPr>
              <a:t>⚠  MQTT 미전환 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74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B74D"/>
                </a:solidFill>
                <a:latin typeface="Calibri"/>
                <a:ea typeface="Calibri"/>
                <a:cs typeface="Calibri"/>
                <a:sym typeface="Calibri"/>
              </a:rPr>
              <a:t>R4↔Pi farm 경로 끊김 → tele / 모니터 offline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모니터 데이터 출처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C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B9CC4"/>
                </a:solidFill>
                <a:latin typeface="Calibri"/>
                <a:ea typeface="Calibri"/>
                <a:cs typeface="Calibri"/>
                <a:sym typeface="Calibri"/>
              </a:rPr>
              <a:t>UI 토글만으로는 DB/그래프가 바뀌지 않음 — 진짜 경로를 확인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365760" y="10058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CC8E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56CC8E"/>
                </a:solidFill>
                <a:latin typeface="Trebuchet MS"/>
                <a:ea typeface="Trebuchet MS"/>
                <a:cs typeface="Trebuchet MS"/>
                <a:sym typeface="Trebuchet MS"/>
              </a:rPr>
              <a:t>경로 1 — Arduino tele (센서 제어)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566928" y="1353312"/>
            <a:ext cx="1920240" cy="1005840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56CC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566928" y="1353312"/>
            <a:ext cx="1920240" cy="82296"/>
          </a:xfrm>
          <a:prstGeom prst="rect">
            <a:avLst/>
          </a:prstGeom>
          <a:solidFill>
            <a:srgbClr val="56CC8E"/>
          </a:solidFill>
          <a:ln cap="flat" cmpd="sng" w="12700">
            <a:solidFill>
              <a:srgbClr val="56CC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566928" y="146304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CC8E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56CC8E"/>
                </a:solidFill>
                <a:latin typeface="Trebuchet MS"/>
                <a:ea typeface="Trebuchet MS"/>
                <a:cs typeface="Trebuchet MS"/>
                <a:sym typeface="Trebuchet MS"/>
              </a:rPr>
              <a:t>Arduino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612648" y="1883664"/>
            <a:ext cx="1828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센서·릴레이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MQTT pub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p8"/>
          <p:cNvCxnSpPr/>
          <p:nvPr/>
        </p:nvCxnSpPr>
        <p:spPr>
          <a:xfrm>
            <a:off x="2487168" y="1856232"/>
            <a:ext cx="109728" cy="0"/>
          </a:xfrm>
          <a:prstGeom prst="straightConnector1">
            <a:avLst/>
          </a:prstGeom>
          <a:noFill/>
          <a:ln cap="flat" cmpd="sng" w="2540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8"/>
          <p:cNvSpPr/>
          <p:nvPr/>
        </p:nvSpPr>
        <p:spPr>
          <a:xfrm>
            <a:off x="2596896" y="1353312"/>
            <a:ext cx="1920240" cy="1005840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2596896" y="1353312"/>
            <a:ext cx="1920240" cy="82296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2596896" y="146304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C9A7"/>
                </a:solidFill>
                <a:latin typeface="Trebuchet MS"/>
                <a:ea typeface="Trebuchet MS"/>
                <a:cs typeface="Trebuchet MS"/>
                <a:sym typeface="Trebuchet MS"/>
              </a:rPr>
              <a:t>MQTT tele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2642616" y="1883664"/>
            <a:ext cx="1828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tele 1Hz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cronusfarm/..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8"/>
          <p:cNvCxnSpPr/>
          <p:nvPr/>
        </p:nvCxnSpPr>
        <p:spPr>
          <a:xfrm>
            <a:off x="4517136" y="1856232"/>
            <a:ext cx="109728" cy="0"/>
          </a:xfrm>
          <a:prstGeom prst="straightConnector1">
            <a:avLst/>
          </a:prstGeom>
          <a:noFill/>
          <a:ln cap="flat" cmpd="sng" w="2540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8"/>
          <p:cNvSpPr/>
          <p:nvPr/>
        </p:nvSpPr>
        <p:spPr>
          <a:xfrm>
            <a:off x="4626864" y="1353312"/>
            <a:ext cx="1920240" cy="1005840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4626864" y="1353312"/>
            <a:ext cx="1920240" cy="82296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4626864" y="146304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4FC3F7"/>
                </a:solidFill>
                <a:latin typeface="Trebuchet MS"/>
                <a:ea typeface="Trebuchet MS"/>
                <a:cs typeface="Trebuchet MS"/>
                <a:sym typeface="Trebuchet MS"/>
              </a:rPr>
              <a:t>NR 파싱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4672584" y="1883664"/>
            <a:ext cx="1828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tele_channel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_fact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3" name="Google Shape;263;p8"/>
          <p:cNvCxnSpPr/>
          <p:nvPr/>
        </p:nvCxnSpPr>
        <p:spPr>
          <a:xfrm>
            <a:off x="6547104" y="1856232"/>
            <a:ext cx="109728" cy="0"/>
          </a:xfrm>
          <a:prstGeom prst="straightConnector1">
            <a:avLst/>
          </a:prstGeom>
          <a:noFill/>
          <a:ln cap="flat" cmpd="sng" w="2540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8"/>
          <p:cNvSpPr/>
          <p:nvPr/>
        </p:nvSpPr>
        <p:spPr>
          <a:xfrm>
            <a:off x="6656832" y="1353312"/>
            <a:ext cx="1920240" cy="1005840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FFB74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6656832" y="1353312"/>
            <a:ext cx="1920240" cy="82296"/>
          </a:xfrm>
          <a:prstGeom prst="rect">
            <a:avLst/>
          </a:prstGeom>
          <a:solidFill>
            <a:srgbClr val="FFB74D"/>
          </a:solidFill>
          <a:ln cap="flat" cmpd="sng" w="12700">
            <a:solidFill>
              <a:srgbClr val="FFB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6656832" y="146304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74D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B74D"/>
                </a:solidFill>
                <a:latin typeface="Trebuchet MS"/>
                <a:ea typeface="Trebuchet MS"/>
                <a:cs typeface="Trebuchet MS"/>
                <a:sym typeface="Trebuchet MS"/>
              </a:rPr>
              <a:t>Bed 타임라인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6702552" y="1883664"/>
            <a:ext cx="1828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24h 채널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GET /api/..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365760" y="25420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CE93D8"/>
                </a:solidFill>
                <a:latin typeface="Trebuchet MS"/>
                <a:ea typeface="Trebuchet MS"/>
                <a:cs typeface="Trebuchet MS"/>
                <a:sym typeface="Trebuchet MS"/>
              </a:rPr>
              <a:t>경로 2 — Tuya PHW3988 (수질 센서)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566928" y="2880360"/>
            <a:ext cx="1920240" cy="1005840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CE93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566928" y="2880360"/>
            <a:ext cx="1920240" cy="82296"/>
          </a:xfrm>
          <a:prstGeom prst="rect">
            <a:avLst/>
          </a:prstGeom>
          <a:solidFill>
            <a:srgbClr val="CE93D8"/>
          </a:solidFill>
          <a:ln cap="flat" cmpd="sng" w="12700">
            <a:solidFill>
              <a:srgbClr val="CE9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566928" y="299008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CE93D8"/>
                </a:solidFill>
                <a:latin typeface="Trebuchet MS"/>
                <a:ea typeface="Trebuchet MS"/>
                <a:cs typeface="Trebuchet MS"/>
                <a:sym typeface="Trebuchet MS"/>
              </a:rPr>
              <a:t>Tuya PHW3988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612648" y="3410712"/>
            <a:ext cx="1828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수질·EC·pH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Cloud API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p8"/>
          <p:cNvCxnSpPr/>
          <p:nvPr/>
        </p:nvCxnSpPr>
        <p:spPr>
          <a:xfrm>
            <a:off x="2487168" y="3383280"/>
            <a:ext cx="109728" cy="0"/>
          </a:xfrm>
          <a:prstGeom prst="straightConnector1">
            <a:avLst/>
          </a:prstGeom>
          <a:noFill/>
          <a:ln cap="flat" cmpd="sng" w="2540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p8"/>
          <p:cNvSpPr/>
          <p:nvPr/>
        </p:nvSpPr>
        <p:spPr>
          <a:xfrm>
            <a:off x="2596896" y="2880360"/>
            <a:ext cx="1920240" cy="1005840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FFB74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2596896" y="2880360"/>
            <a:ext cx="1920240" cy="82296"/>
          </a:xfrm>
          <a:prstGeom prst="rect">
            <a:avLst/>
          </a:prstGeom>
          <a:solidFill>
            <a:srgbClr val="FFB74D"/>
          </a:solidFill>
          <a:ln cap="flat" cmpd="sng" w="12700">
            <a:solidFill>
              <a:srgbClr val="FFB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2596896" y="299008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74D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B74D"/>
                </a:solidFill>
                <a:latin typeface="Trebuchet MS"/>
                <a:ea typeface="Trebuchet MS"/>
                <a:cs typeface="Trebuchet MS"/>
                <a:sym typeface="Trebuchet MS"/>
              </a:rPr>
              <a:t>fn_map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2642616" y="3410712"/>
            <a:ext cx="1828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NR 변환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정규화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p8"/>
          <p:cNvCxnSpPr/>
          <p:nvPr/>
        </p:nvCxnSpPr>
        <p:spPr>
          <a:xfrm>
            <a:off x="4517136" y="3383280"/>
            <a:ext cx="109728" cy="0"/>
          </a:xfrm>
          <a:prstGeom prst="straightConnector1">
            <a:avLst/>
          </a:prstGeom>
          <a:noFill/>
          <a:ln cap="flat" cmpd="sng" w="2540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p8"/>
          <p:cNvSpPr/>
          <p:nvPr/>
        </p:nvSpPr>
        <p:spPr>
          <a:xfrm>
            <a:off x="4626864" y="2880360"/>
            <a:ext cx="1920240" cy="1005840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4626864" y="2880360"/>
            <a:ext cx="1920240" cy="82296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4626864" y="299008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4FC3F7"/>
                </a:solidFill>
                <a:latin typeface="Trebuchet MS"/>
                <a:ea typeface="Trebuchet MS"/>
                <a:cs typeface="Trebuchet MS"/>
                <a:sym typeface="Trebuchet MS"/>
              </a:rPr>
              <a:t>sensor_reading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4672584" y="3410712"/>
            <a:ext cx="1828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SQLite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POST /ingest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" name="Google Shape;283;p8"/>
          <p:cNvCxnSpPr/>
          <p:nvPr/>
        </p:nvCxnSpPr>
        <p:spPr>
          <a:xfrm>
            <a:off x="6547104" y="3383280"/>
            <a:ext cx="109728" cy="0"/>
          </a:xfrm>
          <a:prstGeom prst="straightConnector1">
            <a:avLst/>
          </a:prstGeom>
          <a:noFill/>
          <a:ln cap="flat" cmpd="sng" w="2540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8"/>
          <p:cNvSpPr/>
          <p:nvPr/>
        </p:nvSpPr>
        <p:spPr>
          <a:xfrm>
            <a:off x="6656832" y="2880360"/>
            <a:ext cx="1920240" cy="1005840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6656832" y="2880360"/>
            <a:ext cx="1920240" cy="82296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6656832" y="299008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C9A7"/>
                </a:solidFill>
                <a:latin typeface="Trebuchet MS"/>
                <a:ea typeface="Trebuchet MS"/>
                <a:cs typeface="Trebuchet MS"/>
                <a:sym typeface="Trebuchet MS"/>
              </a:rPr>
              <a:t>게이지·24h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6702552" y="3410712"/>
            <a:ext cx="1828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수질 그래프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GET /series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365760" y="40416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0C9A7"/>
                </a:solidFill>
                <a:latin typeface="Trebuchet MS"/>
                <a:ea typeface="Trebuchet MS"/>
                <a:cs typeface="Trebuchet MS"/>
                <a:sym typeface="Trebuchet MS"/>
              </a:rPr>
              <a:t>모니터 표시 규칙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365760" y="4389120"/>
            <a:ext cx="54864" cy="118872"/>
          </a:xfrm>
          <a:prstGeom prst="rect">
            <a:avLst/>
          </a:prstGeom>
          <a:solidFill>
            <a:srgbClr val="FFB74D"/>
          </a:solidFill>
          <a:ln cap="flat" cmpd="sng" w="12700">
            <a:solidFill>
              <a:srgbClr val="FFB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502920" y="4379976"/>
            <a:ext cx="83210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수동 제어 또는 스케줄  →  tele · cmd 경유 후 DB 적재  (UI 직접 반영 아님)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365760" y="4544568"/>
            <a:ext cx="54864" cy="118872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502920" y="4535424"/>
            <a:ext cx="83210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채널 타임라인  →  GET /api/channel/timeline  (SQLite)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365760" y="4700016"/>
            <a:ext cx="54864" cy="118872"/>
          </a:xfrm>
          <a:prstGeom prst="rect">
            <a:avLst/>
          </a:prstGeom>
          <a:solidFill>
            <a:srgbClr val="CE93D8"/>
          </a:solidFill>
          <a:ln cap="flat" cmpd="sng" w="12700">
            <a:solidFill>
              <a:srgbClr val="CE9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502920" y="4690872"/>
            <a:ext cx="83210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수질 센서 시계열  →  POST /ingest/sensor  /  GET /api/sensor/series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365760" y="4855464"/>
            <a:ext cx="54864" cy="118872"/>
          </a:xfrm>
          <a:prstGeom prst="rect">
            <a:avLst/>
          </a:prstGeom>
          <a:solidFill>
            <a:srgbClr val="56CC8E"/>
          </a:solidFill>
          <a:ln cap="flat" cmpd="sng" w="12700">
            <a:solidFill>
              <a:srgbClr val="56CC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502920" y="4846320"/>
            <a:ext cx="83210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AI 작물 관측  →  MQTT ai_count 토픽  →  InfluxDB ai_detections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AI 카메라 파이프라인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C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B9CC4"/>
                </a:solidFill>
                <a:latin typeface="Calibri"/>
                <a:ea typeface="Calibri"/>
                <a:cs typeface="Calibri"/>
                <a:sym typeface="Calibri"/>
              </a:rPr>
              <a:t>실시간 MJPEG 추론 — 동영상 저장 없음 · CCTV JPEG + SQLite 메타만 디스크 적재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420624" y="1024128"/>
            <a:ext cx="1572768" cy="1417320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56CC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420624" y="1024128"/>
            <a:ext cx="1572768" cy="82296"/>
          </a:xfrm>
          <a:prstGeom prst="rect">
            <a:avLst/>
          </a:prstGeom>
          <a:solidFill>
            <a:srgbClr val="56CC8E"/>
          </a:solidFill>
          <a:ln cap="flat" cmpd="sng" w="12700">
            <a:solidFill>
              <a:srgbClr val="56CC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420624" y="1133856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CC8E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56CC8E"/>
                </a:solidFill>
                <a:latin typeface="Trebuchet MS"/>
                <a:ea typeface="Trebuchet MS"/>
                <a:cs typeface="Trebuchet MS"/>
                <a:sym typeface="Trebuchet MS"/>
              </a:rPr>
              <a:t>ustreamer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466344" y="1554480"/>
            <a:ext cx="1481328" cy="832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:8080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USB video0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단일 점유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9"/>
          <p:cNvCxnSpPr/>
          <p:nvPr/>
        </p:nvCxnSpPr>
        <p:spPr>
          <a:xfrm>
            <a:off x="1993392" y="1732788"/>
            <a:ext cx="109728" cy="0"/>
          </a:xfrm>
          <a:prstGeom prst="straightConnector1">
            <a:avLst/>
          </a:prstGeom>
          <a:noFill/>
          <a:ln cap="flat" cmpd="sng" w="2540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9"/>
          <p:cNvSpPr/>
          <p:nvPr/>
        </p:nvSpPr>
        <p:spPr>
          <a:xfrm>
            <a:off x="2103120" y="1024128"/>
            <a:ext cx="1572768" cy="1417320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2103120" y="1024128"/>
            <a:ext cx="1572768" cy="82296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2103120" y="1133856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4FC3F7"/>
                </a:solidFill>
                <a:latin typeface="Trebuchet MS"/>
                <a:ea typeface="Trebuchet MS"/>
                <a:cs typeface="Trebuchet MS"/>
                <a:sym typeface="Trebuchet MS"/>
              </a:rPr>
              <a:t>hailo_stream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2148840" y="1554480"/>
            <a:ext cx="1481328" cy="832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OpenCV + YOLO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NPU 추론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:8081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p9"/>
          <p:cNvCxnSpPr/>
          <p:nvPr/>
        </p:nvCxnSpPr>
        <p:spPr>
          <a:xfrm>
            <a:off x="3675888" y="1732788"/>
            <a:ext cx="109728" cy="0"/>
          </a:xfrm>
          <a:prstGeom prst="straightConnector1">
            <a:avLst/>
          </a:prstGeom>
          <a:noFill/>
          <a:ln cap="flat" cmpd="sng" w="2540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9"/>
          <p:cNvSpPr/>
          <p:nvPr/>
        </p:nvSpPr>
        <p:spPr>
          <a:xfrm>
            <a:off x="3785616" y="1024128"/>
            <a:ext cx="1572768" cy="1417320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3785616" y="1024128"/>
            <a:ext cx="1572768" cy="82296"/>
          </a:xfrm>
          <a:prstGeom prst="rect">
            <a:avLst/>
          </a:prstGeom>
          <a:solidFill>
            <a:srgbClr val="7B9CC4"/>
          </a:solidFill>
          <a:ln cap="flat" cmpd="sng" w="1270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3785616" y="1133856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CC4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7B9CC4"/>
                </a:solidFill>
                <a:latin typeface="Trebuchet MS"/>
                <a:ea typeface="Trebuchet MS"/>
                <a:cs typeface="Trebuchet MS"/>
                <a:sym typeface="Trebuchet MS"/>
              </a:rPr>
              <a:t>nginx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3831336" y="1554480"/>
            <a:ext cx="1481328" cy="832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프록시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/farm/hailo-mjpeg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" name="Google Shape;319;p9"/>
          <p:cNvCxnSpPr/>
          <p:nvPr/>
        </p:nvCxnSpPr>
        <p:spPr>
          <a:xfrm>
            <a:off x="5358384" y="1732788"/>
            <a:ext cx="109728" cy="0"/>
          </a:xfrm>
          <a:prstGeom prst="straightConnector1">
            <a:avLst/>
          </a:prstGeom>
          <a:noFill/>
          <a:ln cap="flat" cmpd="sng" w="2540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0" name="Google Shape;320;p9"/>
          <p:cNvSpPr/>
          <p:nvPr/>
        </p:nvSpPr>
        <p:spPr>
          <a:xfrm>
            <a:off x="5468112" y="1024128"/>
            <a:ext cx="1572768" cy="1417320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CE93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5468112" y="1024128"/>
            <a:ext cx="1572768" cy="82296"/>
          </a:xfrm>
          <a:prstGeom prst="rect">
            <a:avLst/>
          </a:prstGeom>
          <a:solidFill>
            <a:srgbClr val="CE93D8"/>
          </a:solidFill>
          <a:ln cap="flat" cmpd="sng" w="12700">
            <a:solidFill>
              <a:srgbClr val="CE9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5468112" y="1133856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CE93D8"/>
                </a:solidFill>
                <a:latin typeface="Trebuchet MS"/>
                <a:ea typeface="Trebuchet MS"/>
                <a:cs typeface="Trebuchet MS"/>
                <a:sym typeface="Trebuchet MS"/>
              </a:rPr>
              <a:t>Dashboard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5513832" y="1554480"/>
            <a:ext cx="1481328" cy="832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AI 영상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자막 오버레이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4" name="Google Shape;324;p9"/>
          <p:cNvCxnSpPr/>
          <p:nvPr/>
        </p:nvCxnSpPr>
        <p:spPr>
          <a:xfrm>
            <a:off x="7040880" y="1732788"/>
            <a:ext cx="109728" cy="0"/>
          </a:xfrm>
          <a:prstGeom prst="straightConnector1">
            <a:avLst/>
          </a:prstGeom>
          <a:noFill/>
          <a:ln cap="flat" cmpd="sng" w="2540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5" name="Google Shape;325;p9"/>
          <p:cNvSpPr/>
          <p:nvPr/>
        </p:nvSpPr>
        <p:spPr>
          <a:xfrm>
            <a:off x="7150608" y="1024128"/>
            <a:ext cx="1572768" cy="1417320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7150608" y="1024128"/>
            <a:ext cx="1572768" cy="82296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9"/>
          <p:cNvSpPr/>
          <p:nvPr/>
        </p:nvSpPr>
        <p:spPr>
          <a:xfrm>
            <a:off x="7150608" y="1133856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C9A7"/>
                </a:solidFill>
                <a:latin typeface="Trebuchet MS"/>
                <a:ea typeface="Trebuchet MS"/>
                <a:cs typeface="Trebuchet MS"/>
                <a:sym typeface="Trebuchet MS"/>
              </a:rPr>
              <a:t>MQTT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7196328" y="1554480"/>
            <a:ext cx="1481328" cy="832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ai_count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검출 수·자막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9" name="Google Shape;329;p9"/>
          <p:cNvCxnSpPr/>
          <p:nvPr/>
        </p:nvCxnSpPr>
        <p:spPr>
          <a:xfrm>
            <a:off x="1097280" y="2441448"/>
            <a:ext cx="0" cy="594360"/>
          </a:xfrm>
          <a:prstGeom prst="straightConnector1">
            <a:avLst/>
          </a:prstGeom>
          <a:noFill/>
          <a:ln cap="flat" cmpd="sng" w="19050">
            <a:solidFill>
              <a:srgbClr val="56CC8E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30" name="Google Shape;330;p9"/>
          <p:cNvSpPr/>
          <p:nvPr/>
        </p:nvSpPr>
        <p:spPr>
          <a:xfrm>
            <a:off x="365760" y="3081528"/>
            <a:ext cx="3063240" cy="877824"/>
          </a:xfrm>
          <a:prstGeom prst="rect">
            <a:avLst/>
          </a:prstGeom>
          <a:solidFill>
            <a:srgbClr val="122B4A"/>
          </a:solidFill>
          <a:ln cap="flat" cmpd="sng" w="19050">
            <a:solidFill>
              <a:srgbClr val="56CC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"/>
          <p:cNvSpPr/>
          <p:nvPr/>
        </p:nvSpPr>
        <p:spPr>
          <a:xfrm>
            <a:off x="457200" y="3136392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CC8E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56CC8E"/>
                </a:solidFill>
                <a:latin typeface="Trebuchet MS"/>
                <a:ea typeface="Trebuchet MS"/>
                <a:cs typeface="Trebuchet MS"/>
                <a:sym typeface="Trebuchet MS"/>
              </a:rPr>
              <a:t>CCTV 캡처 (JPEG 전용)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457200" y="3429000"/>
            <a:ext cx="2880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/mnt/usb/CCTV/cam01/  ·  1분 주기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현재 ~2.5만장 2.6GB 누적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3566160" y="3081528"/>
            <a:ext cx="2560320" cy="877824"/>
          </a:xfrm>
          <a:prstGeom prst="rect">
            <a:avLst/>
          </a:prstGeom>
          <a:solidFill>
            <a:srgbClr val="122B4A"/>
          </a:solidFill>
          <a:ln cap="flat" cmpd="sng" w="19050">
            <a:solidFill>
              <a:srgbClr val="FFB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3657600" y="3136392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74D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B74D"/>
                </a:solidFill>
                <a:latin typeface="Trebuchet MS"/>
                <a:ea typeface="Trebuchet MS"/>
                <a:cs typeface="Trebuchet MS"/>
                <a:sym typeface="Trebuchet MS"/>
              </a:rPr>
              <a:t>ONNX CPU 폴백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3657600" y="3429000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Hailo HEF 없으면 자동 전환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(처리 속도 저하)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6309360" y="30632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0C9A7"/>
                </a:solidFill>
                <a:latin typeface="Trebuchet MS"/>
                <a:ea typeface="Trebuchet MS"/>
                <a:cs typeface="Trebuchet MS"/>
                <a:sym typeface="Trebuchet MS"/>
              </a:rPr>
              <a:t>systemd 서비스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6309360" y="3401568"/>
            <a:ext cx="2560320" cy="301752"/>
          </a:xfrm>
          <a:prstGeom prst="rect">
            <a:avLst/>
          </a:prstGeom>
          <a:solidFill>
            <a:srgbClr val="0F2240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6355080" y="3438144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CC8E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56CC8E"/>
                </a:solidFill>
                <a:latin typeface="Consolas"/>
                <a:ea typeface="Consolas"/>
                <a:cs typeface="Consolas"/>
                <a:sym typeface="Consolas"/>
              </a:rPr>
              <a:t>cronusfarm-ustreamer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8101584" y="3438144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8080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8229600" y="3438144"/>
            <a:ext cx="6035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CC8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6CC8E"/>
                </a:solidFill>
                <a:latin typeface="Calibri"/>
                <a:ea typeface="Calibri"/>
                <a:cs typeface="Calibri"/>
                <a:sym typeface="Calibri"/>
              </a:rPr>
              <a:t>정식 ✅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6309360" y="3739896"/>
            <a:ext cx="2560320" cy="301752"/>
          </a:xfrm>
          <a:prstGeom prst="rect">
            <a:avLst/>
          </a:prstGeom>
          <a:solidFill>
            <a:srgbClr val="122B4A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6355080" y="3776472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CC8E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56CC8E"/>
                </a:solidFill>
                <a:latin typeface="Consolas"/>
                <a:ea typeface="Consolas"/>
                <a:cs typeface="Consolas"/>
                <a:sym typeface="Consolas"/>
              </a:rPr>
              <a:t>cronusfarm-hailo-stream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8101584" y="3776472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8081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8229600" y="3776472"/>
            <a:ext cx="6035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CC8E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6CC8E"/>
                </a:solidFill>
                <a:latin typeface="Calibri"/>
                <a:ea typeface="Calibri"/>
                <a:cs typeface="Calibri"/>
                <a:sym typeface="Calibri"/>
              </a:rPr>
              <a:t>정식 ✅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6309360" y="4078224"/>
            <a:ext cx="2560320" cy="301752"/>
          </a:xfrm>
          <a:prstGeom prst="rect">
            <a:avLst/>
          </a:prstGeom>
          <a:solidFill>
            <a:srgbClr val="0F2240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9"/>
          <p:cNvSpPr/>
          <p:nvPr/>
        </p:nvSpPr>
        <p:spPr>
          <a:xfrm>
            <a:off x="6355080" y="4114800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00C9A7"/>
                </a:solidFill>
                <a:latin typeface="Consolas"/>
                <a:ea typeface="Consolas"/>
                <a:cs typeface="Consolas"/>
                <a:sym typeface="Consolas"/>
              </a:rPr>
              <a:t>cronusfarm-cctv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8101584" y="4114800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8229600" y="4114800"/>
            <a:ext cx="6035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JPEG ✅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6309360" y="4416552"/>
            <a:ext cx="2560320" cy="301752"/>
          </a:xfrm>
          <a:prstGeom prst="rect">
            <a:avLst/>
          </a:prstGeom>
          <a:solidFill>
            <a:srgbClr val="122B4A"/>
          </a:solidFill>
          <a:ln cap="flat" cmpd="sng" w="9525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9"/>
          <p:cNvSpPr/>
          <p:nvPr/>
        </p:nvSpPr>
        <p:spPr>
          <a:xfrm>
            <a:off x="6355080" y="4453128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535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F5350"/>
                </a:solidFill>
                <a:latin typeface="Consolas"/>
                <a:ea typeface="Consolas"/>
                <a:cs typeface="Consolas"/>
                <a:sym typeface="Consolas"/>
              </a:rPr>
              <a:t>cronusfarm-camera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8101584" y="4453128"/>
            <a:ext cx="310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8080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8229600" y="4453128"/>
            <a:ext cx="6035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535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F5350"/>
                </a:solidFill>
                <a:latin typeface="Calibri"/>
                <a:ea typeface="Calibri"/>
                <a:cs typeface="Calibri"/>
                <a:sym typeface="Calibri"/>
              </a:rPr>
              <a:t>레거시 ⛔ mask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365760" y="4681728"/>
            <a:ext cx="8412480" cy="329184"/>
          </a:xfrm>
          <a:prstGeom prst="rect">
            <a:avLst/>
          </a:prstGeom>
          <a:solidFill>
            <a:srgbClr val="0D1828"/>
          </a:solidFill>
          <a:ln cap="flat" cmpd="sng" w="12700">
            <a:solidFill>
              <a:srgbClr val="EF53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9"/>
          <p:cNvSpPr/>
          <p:nvPr/>
        </p:nvSpPr>
        <p:spPr>
          <a:xfrm>
            <a:off x="457200" y="4681728"/>
            <a:ext cx="8321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53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F5350"/>
                </a:solidFill>
                <a:latin typeface="Calibri"/>
                <a:ea typeface="Calibri"/>
                <a:cs typeface="Calibri"/>
                <a:sym typeface="Calibri"/>
              </a:rPr>
              <a:t>⛔  cronusfarm-camera (레거시) + ustreamer 동시 기동 → :8080 충돌 → 검정 화면  →  systemctl mask cronusfarm-camera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Hailo YOLO 재학습 파이프라인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C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B9CC4"/>
                </a:solidFill>
                <a:latin typeface="Calibri"/>
                <a:ea typeface="Calibri"/>
                <a:cs typeface="Calibri"/>
                <a:sym typeface="Calibri"/>
              </a:rPr>
              <a:t>Roboflow 라벨링 → YOLOv8 학습 → best.onnx → WSL x86 HEF 컴파일 → Pi 배포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420624" y="1051560"/>
            <a:ext cx="1572768" cy="1417320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56CC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0"/>
          <p:cNvSpPr/>
          <p:nvPr/>
        </p:nvSpPr>
        <p:spPr>
          <a:xfrm>
            <a:off x="420624" y="1051560"/>
            <a:ext cx="1572768" cy="82296"/>
          </a:xfrm>
          <a:prstGeom prst="rect">
            <a:avLst/>
          </a:prstGeom>
          <a:solidFill>
            <a:srgbClr val="56CC8E"/>
          </a:solidFill>
          <a:ln cap="flat" cmpd="sng" w="12700">
            <a:solidFill>
              <a:srgbClr val="56CC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0"/>
          <p:cNvSpPr/>
          <p:nvPr/>
        </p:nvSpPr>
        <p:spPr>
          <a:xfrm>
            <a:off x="420624" y="1161288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CC8E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56CC8E"/>
                </a:solidFill>
                <a:latin typeface="Trebuchet MS"/>
                <a:ea typeface="Trebuchet MS"/>
                <a:cs typeface="Trebuchet MS"/>
                <a:sym typeface="Trebuchet MS"/>
              </a:rPr>
              <a:t>① 데이터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CC8E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56CC8E"/>
                </a:solidFill>
                <a:latin typeface="Trebuchet MS"/>
                <a:ea typeface="Trebuchet MS"/>
                <a:cs typeface="Trebuchet MS"/>
                <a:sym typeface="Trebuchet MS"/>
              </a:rPr>
              <a:t>라벨링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466344" y="1581912"/>
            <a:ext cx="1481328" cy="832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Roboflow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잎 1장=박스 1개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7" name="Google Shape;367;p10"/>
          <p:cNvCxnSpPr/>
          <p:nvPr/>
        </p:nvCxnSpPr>
        <p:spPr>
          <a:xfrm>
            <a:off x="1993392" y="1760220"/>
            <a:ext cx="109728" cy="0"/>
          </a:xfrm>
          <a:prstGeom prst="straightConnector1">
            <a:avLst/>
          </a:prstGeom>
          <a:noFill/>
          <a:ln cap="flat" cmpd="sng" w="2540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8" name="Google Shape;368;p10"/>
          <p:cNvSpPr/>
          <p:nvPr/>
        </p:nvSpPr>
        <p:spPr>
          <a:xfrm>
            <a:off x="2103120" y="1051560"/>
            <a:ext cx="1572768" cy="1417320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0"/>
          <p:cNvSpPr/>
          <p:nvPr/>
        </p:nvSpPr>
        <p:spPr>
          <a:xfrm>
            <a:off x="2103120" y="1051560"/>
            <a:ext cx="1572768" cy="82296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0"/>
          <p:cNvSpPr/>
          <p:nvPr/>
        </p:nvSpPr>
        <p:spPr>
          <a:xfrm>
            <a:off x="2103120" y="1161288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C9A7"/>
                </a:solidFill>
                <a:latin typeface="Trebuchet MS"/>
                <a:ea typeface="Trebuchet MS"/>
                <a:cs typeface="Trebuchet MS"/>
                <a:sym typeface="Trebuchet MS"/>
              </a:rPr>
              <a:t>② YOLO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C9A7"/>
                </a:solidFill>
                <a:latin typeface="Trebuchet MS"/>
                <a:ea typeface="Trebuchet MS"/>
                <a:cs typeface="Trebuchet MS"/>
                <a:sym typeface="Trebuchet MS"/>
              </a:rPr>
              <a:t>학습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2148840" y="1581912"/>
            <a:ext cx="1481328" cy="832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YOLOv8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Colab / GPU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2" name="Google Shape;372;p10"/>
          <p:cNvCxnSpPr/>
          <p:nvPr/>
        </p:nvCxnSpPr>
        <p:spPr>
          <a:xfrm>
            <a:off x="3675888" y="1760220"/>
            <a:ext cx="109728" cy="0"/>
          </a:xfrm>
          <a:prstGeom prst="straightConnector1">
            <a:avLst/>
          </a:prstGeom>
          <a:noFill/>
          <a:ln cap="flat" cmpd="sng" w="2540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3" name="Google Shape;373;p10"/>
          <p:cNvSpPr/>
          <p:nvPr/>
        </p:nvSpPr>
        <p:spPr>
          <a:xfrm>
            <a:off x="3785616" y="1051560"/>
            <a:ext cx="1572768" cy="1417320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CE93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0"/>
          <p:cNvSpPr/>
          <p:nvPr/>
        </p:nvSpPr>
        <p:spPr>
          <a:xfrm>
            <a:off x="3785616" y="1051560"/>
            <a:ext cx="1572768" cy="82296"/>
          </a:xfrm>
          <a:prstGeom prst="rect">
            <a:avLst/>
          </a:prstGeom>
          <a:solidFill>
            <a:srgbClr val="CE93D8"/>
          </a:solidFill>
          <a:ln cap="flat" cmpd="sng" w="12700">
            <a:solidFill>
              <a:srgbClr val="CE9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0"/>
          <p:cNvSpPr/>
          <p:nvPr/>
        </p:nvSpPr>
        <p:spPr>
          <a:xfrm>
            <a:off x="3785616" y="1161288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CE93D8"/>
                </a:solidFill>
                <a:latin typeface="Trebuchet MS"/>
                <a:ea typeface="Trebuchet MS"/>
                <a:cs typeface="Trebuchet MS"/>
                <a:sym typeface="Trebuchet MS"/>
              </a:rPr>
              <a:t>③ ONNX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CE93D8"/>
                </a:solidFill>
                <a:latin typeface="Trebuchet MS"/>
                <a:ea typeface="Trebuchet MS"/>
                <a:cs typeface="Trebuchet MS"/>
                <a:sym typeface="Trebuchet MS"/>
              </a:rPr>
              <a:t>변환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3831336" y="1581912"/>
            <a:ext cx="1481328" cy="832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best.onnx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640×640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7" name="Google Shape;377;p10"/>
          <p:cNvCxnSpPr/>
          <p:nvPr/>
        </p:nvCxnSpPr>
        <p:spPr>
          <a:xfrm>
            <a:off x="5358384" y="1760220"/>
            <a:ext cx="109728" cy="0"/>
          </a:xfrm>
          <a:prstGeom prst="straightConnector1">
            <a:avLst/>
          </a:prstGeom>
          <a:noFill/>
          <a:ln cap="flat" cmpd="sng" w="2540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8" name="Google Shape;378;p10"/>
          <p:cNvSpPr/>
          <p:nvPr/>
        </p:nvSpPr>
        <p:spPr>
          <a:xfrm>
            <a:off x="5468112" y="1051560"/>
            <a:ext cx="1572768" cy="1417320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FFB74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0"/>
          <p:cNvSpPr/>
          <p:nvPr/>
        </p:nvSpPr>
        <p:spPr>
          <a:xfrm>
            <a:off x="5468112" y="1051560"/>
            <a:ext cx="1572768" cy="82296"/>
          </a:xfrm>
          <a:prstGeom prst="rect">
            <a:avLst/>
          </a:prstGeom>
          <a:solidFill>
            <a:srgbClr val="FFB74D"/>
          </a:solidFill>
          <a:ln cap="flat" cmpd="sng" w="12700">
            <a:solidFill>
              <a:srgbClr val="FFB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0"/>
          <p:cNvSpPr/>
          <p:nvPr/>
        </p:nvSpPr>
        <p:spPr>
          <a:xfrm>
            <a:off x="5468112" y="1161288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74D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B74D"/>
                </a:solidFill>
                <a:latin typeface="Trebuchet MS"/>
                <a:ea typeface="Trebuchet MS"/>
                <a:cs typeface="Trebuchet MS"/>
                <a:sym typeface="Trebuchet MS"/>
              </a:rPr>
              <a:t>④ HEF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74D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B74D"/>
                </a:solidFill>
                <a:latin typeface="Trebuchet MS"/>
                <a:ea typeface="Trebuchet MS"/>
                <a:cs typeface="Trebuchet MS"/>
                <a:sym typeface="Trebuchet MS"/>
              </a:rPr>
              <a:t>컴파일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5513832" y="1581912"/>
            <a:ext cx="1481328" cy="832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WSL x86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Hailo DFC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2" name="Google Shape;382;p10"/>
          <p:cNvCxnSpPr/>
          <p:nvPr/>
        </p:nvCxnSpPr>
        <p:spPr>
          <a:xfrm>
            <a:off x="7040880" y="1760220"/>
            <a:ext cx="109728" cy="0"/>
          </a:xfrm>
          <a:prstGeom prst="straightConnector1">
            <a:avLst/>
          </a:prstGeom>
          <a:noFill/>
          <a:ln cap="flat" cmpd="sng" w="2540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3" name="Google Shape;383;p10"/>
          <p:cNvSpPr/>
          <p:nvPr/>
        </p:nvSpPr>
        <p:spPr>
          <a:xfrm>
            <a:off x="7150608" y="1051560"/>
            <a:ext cx="1572768" cy="1417320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0"/>
          <p:cNvSpPr/>
          <p:nvPr/>
        </p:nvSpPr>
        <p:spPr>
          <a:xfrm>
            <a:off x="7150608" y="1051560"/>
            <a:ext cx="1572768" cy="82296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0"/>
          <p:cNvSpPr/>
          <p:nvPr/>
        </p:nvSpPr>
        <p:spPr>
          <a:xfrm>
            <a:off x="7150608" y="1161288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4FC3F7"/>
                </a:solidFill>
                <a:latin typeface="Trebuchet MS"/>
                <a:ea typeface="Trebuchet MS"/>
                <a:cs typeface="Trebuchet MS"/>
                <a:sym typeface="Trebuchet MS"/>
              </a:rPr>
              <a:t>⑤ 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4FC3F7"/>
                </a:solidFill>
                <a:latin typeface="Trebuchet MS"/>
                <a:ea typeface="Trebuchet MS"/>
                <a:cs typeface="Trebuchet MS"/>
                <a:sym typeface="Trebuchet MS"/>
              </a:rPr>
              <a:t>배포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7196328" y="1581912"/>
            <a:ext cx="1481328" cy="832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Hailo/ + systemd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restart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365760" y="269748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C9A7"/>
                </a:solidFill>
                <a:latin typeface="Trebuchet MS"/>
                <a:ea typeface="Trebuchet MS"/>
                <a:cs typeface="Trebuchet MS"/>
                <a:sym typeface="Trebuchet MS"/>
              </a:rPr>
              <a:t>주요 명령어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365760" y="30632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HEF 컴파일 (WSL)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2194560" y="3063240"/>
            <a:ext cx="6583680" cy="320040"/>
          </a:xfrm>
          <a:prstGeom prst="rect">
            <a:avLst/>
          </a:prstGeom>
          <a:solidFill>
            <a:srgbClr val="0D1E30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0"/>
          <p:cNvSpPr/>
          <p:nvPr/>
        </p:nvSpPr>
        <p:spPr>
          <a:xfrm>
            <a:off x="2286000" y="3063240"/>
            <a:ext cx="6492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E07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AE07A"/>
                </a:solidFill>
                <a:latin typeface="Consolas"/>
                <a:ea typeface="Consolas"/>
                <a:cs typeface="Consolas"/>
                <a:sym typeface="Consolas"/>
              </a:rPr>
              <a:t>.\scripts\cronusfarm-hailo-prepare-best.ps1 -RunCompileInWsl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365760" y="3438144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Pi 배포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2194560" y="3438144"/>
            <a:ext cx="6583680" cy="320040"/>
          </a:xfrm>
          <a:prstGeom prst="rect">
            <a:avLst/>
          </a:prstGeom>
          <a:solidFill>
            <a:srgbClr val="0D1E30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0"/>
          <p:cNvSpPr/>
          <p:nvPr/>
        </p:nvSpPr>
        <p:spPr>
          <a:xfrm>
            <a:off x="2286000" y="3438144"/>
            <a:ext cx="6492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E07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AE07A"/>
                </a:solidFill>
                <a:latin typeface="Consolas"/>
                <a:ea typeface="Consolas"/>
                <a:cs typeface="Consolas"/>
                <a:sym typeface="Consolas"/>
              </a:rPr>
              <a:t>.\scripts\cronusfarm-hailo-prepare-best.ps1 -DeployToPi -SetupOnPi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365760" y="381304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서비스 재시작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2194560" y="3813048"/>
            <a:ext cx="6583680" cy="320040"/>
          </a:xfrm>
          <a:prstGeom prst="rect">
            <a:avLst/>
          </a:prstGeom>
          <a:solidFill>
            <a:srgbClr val="0D1E30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0"/>
          <p:cNvSpPr/>
          <p:nvPr/>
        </p:nvSpPr>
        <p:spPr>
          <a:xfrm>
            <a:off x="2286000" y="3813048"/>
            <a:ext cx="6492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E07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AE07A"/>
                </a:solidFill>
                <a:latin typeface="Consolas"/>
                <a:ea typeface="Consolas"/>
                <a:cs typeface="Consolas"/>
                <a:sym typeface="Consolas"/>
              </a:rPr>
              <a:t>sudo systemctl restart cronusfarm-hailo-stream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365760" y="418795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추론 테스트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2194560" y="4187952"/>
            <a:ext cx="6583680" cy="320040"/>
          </a:xfrm>
          <a:prstGeom prst="rect">
            <a:avLst/>
          </a:prstGeom>
          <a:solidFill>
            <a:srgbClr val="0D1E30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0"/>
          <p:cNvSpPr/>
          <p:nvPr/>
        </p:nvSpPr>
        <p:spPr>
          <a:xfrm>
            <a:off x="2286000" y="4187952"/>
            <a:ext cx="6492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E07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AE07A"/>
                </a:solidFill>
                <a:latin typeface="Consolas"/>
                <a:ea typeface="Consolas"/>
                <a:cs typeface="Consolas"/>
                <a:sym typeface="Consolas"/>
              </a:rPr>
              <a:t>curl -X POST http://127.0.0.1:8081/detect_now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365760" y="4562856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로그 확인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2194560" y="4562856"/>
            <a:ext cx="6583680" cy="320040"/>
          </a:xfrm>
          <a:prstGeom prst="rect">
            <a:avLst/>
          </a:prstGeom>
          <a:solidFill>
            <a:srgbClr val="0D1E30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0"/>
          <p:cNvSpPr/>
          <p:nvPr/>
        </p:nvSpPr>
        <p:spPr>
          <a:xfrm>
            <a:off x="2286000" y="4562856"/>
            <a:ext cx="6492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E07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AE07A"/>
                </a:solidFill>
                <a:latin typeface="Consolas"/>
                <a:ea typeface="Consolas"/>
                <a:cs typeface="Consolas"/>
                <a:sym typeface="Consolas"/>
              </a:rPr>
              <a:t>journalctl -u cronusfarm-hailo-stream -f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solidFill>
            <a:srgbClr val="0D1828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0"/>
          <p:cNvSpPr/>
          <p:nvPr/>
        </p:nvSpPr>
        <p:spPr>
          <a:xfrm>
            <a:off x="457200" y="4681728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클래스 순서 :  tomato  ·  fig  ·  butterhead  ·  basil   (Hailo/yolov8.json 동일)  ·  화분·토양 라벨 금지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개발 · 배포 워크플로우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C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B9CC4"/>
                </a:solidFill>
                <a:latin typeface="Calibri"/>
                <a:ea typeface="Calibri"/>
                <a:cs typeface="Calibri"/>
                <a:sym typeface="Calibri"/>
              </a:rPr>
              <a:t>PC 저장소 정본 → 분할 편집 → 병합 → Pi apply (POST /admin/flows 필수)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420624" y="1051560"/>
            <a:ext cx="1572768" cy="1417320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56CC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1"/>
          <p:cNvSpPr/>
          <p:nvPr/>
        </p:nvSpPr>
        <p:spPr>
          <a:xfrm>
            <a:off x="420624" y="1051560"/>
            <a:ext cx="1572768" cy="82296"/>
          </a:xfrm>
          <a:prstGeom prst="rect">
            <a:avLst/>
          </a:prstGeom>
          <a:solidFill>
            <a:srgbClr val="56CC8E"/>
          </a:solidFill>
          <a:ln cap="flat" cmpd="sng" w="12700">
            <a:solidFill>
              <a:srgbClr val="56CC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1"/>
          <p:cNvSpPr/>
          <p:nvPr/>
        </p:nvSpPr>
        <p:spPr>
          <a:xfrm>
            <a:off x="420624" y="1161288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CC8E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56CC8E"/>
                </a:solidFill>
                <a:latin typeface="Trebuchet MS"/>
                <a:ea typeface="Trebuchet MS"/>
                <a:cs typeface="Trebuchet MS"/>
                <a:sym typeface="Trebuchet MS"/>
              </a:rPr>
              <a:t>분할 수정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466344" y="1581912"/>
            <a:ext cx="1481328" cy="832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flows_*.json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arduino/ · scripts/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7" name="Google Shape;417;p11"/>
          <p:cNvCxnSpPr/>
          <p:nvPr/>
        </p:nvCxnSpPr>
        <p:spPr>
          <a:xfrm>
            <a:off x="1993392" y="1760220"/>
            <a:ext cx="109728" cy="0"/>
          </a:xfrm>
          <a:prstGeom prst="straightConnector1">
            <a:avLst/>
          </a:prstGeom>
          <a:noFill/>
          <a:ln cap="flat" cmpd="sng" w="2540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p11"/>
          <p:cNvSpPr/>
          <p:nvPr/>
        </p:nvSpPr>
        <p:spPr>
          <a:xfrm>
            <a:off x="2103120" y="1051560"/>
            <a:ext cx="1572768" cy="1417320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1"/>
          <p:cNvSpPr/>
          <p:nvPr/>
        </p:nvSpPr>
        <p:spPr>
          <a:xfrm>
            <a:off x="2103120" y="1051560"/>
            <a:ext cx="1572768" cy="82296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1"/>
          <p:cNvSpPr/>
          <p:nvPr/>
        </p:nvSpPr>
        <p:spPr>
          <a:xfrm>
            <a:off x="2103120" y="1161288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C9A7"/>
                </a:solidFill>
                <a:latin typeface="Trebuchet MS"/>
                <a:ea typeface="Trebuchet MS"/>
                <a:cs typeface="Trebuchet MS"/>
                <a:sym typeface="Trebuchet MS"/>
              </a:rPr>
              <a:t>병합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2148840" y="1581912"/>
            <a:ext cx="1481328" cy="832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merge_nodered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_deploy.py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2" name="Google Shape;422;p11"/>
          <p:cNvCxnSpPr/>
          <p:nvPr/>
        </p:nvCxnSpPr>
        <p:spPr>
          <a:xfrm>
            <a:off x="3675888" y="1760220"/>
            <a:ext cx="109728" cy="0"/>
          </a:xfrm>
          <a:prstGeom prst="straightConnector1">
            <a:avLst/>
          </a:prstGeom>
          <a:noFill/>
          <a:ln cap="flat" cmpd="sng" w="2540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3" name="Google Shape;423;p11"/>
          <p:cNvSpPr/>
          <p:nvPr/>
        </p:nvSpPr>
        <p:spPr>
          <a:xfrm>
            <a:off x="3785616" y="1051560"/>
            <a:ext cx="1572768" cy="1417320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1"/>
          <p:cNvSpPr/>
          <p:nvPr/>
        </p:nvSpPr>
        <p:spPr>
          <a:xfrm>
            <a:off x="3785616" y="1051560"/>
            <a:ext cx="1572768" cy="82296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1"/>
          <p:cNvSpPr/>
          <p:nvPr/>
        </p:nvSpPr>
        <p:spPr>
          <a:xfrm>
            <a:off x="3785616" y="1161288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4FC3F7"/>
                </a:solidFill>
                <a:latin typeface="Trebuchet MS"/>
                <a:ea typeface="Trebuchet MS"/>
                <a:cs typeface="Trebuchet MS"/>
                <a:sym typeface="Trebuchet MS"/>
              </a:rPr>
              <a:t>scp 전송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3831336" y="1581912"/>
            <a:ext cx="1481328" cy="832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merged-deploy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.json → Pi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7" name="Google Shape;427;p11"/>
          <p:cNvCxnSpPr/>
          <p:nvPr/>
        </p:nvCxnSpPr>
        <p:spPr>
          <a:xfrm>
            <a:off x="5358384" y="1760220"/>
            <a:ext cx="109728" cy="0"/>
          </a:xfrm>
          <a:prstGeom prst="straightConnector1">
            <a:avLst/>
          </a:prstGeom>
          <a:noFill/>
          <a:ln cap="flat" cmpd="sng" w="2540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8" name="Google Shape;428;p11"/>
          <p:cNvSpPr/>
          <p:nvPr/>
        </p:nvSpPr>
        <p:spPr>
          <a:xfrm>
            <a:off x="5468112" y="1051560"/>
            <a:ext cx="1572768" cy="1417320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FFB74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1"/>
          <p:cNvSpPr/>
          <p:nvPr/>
        </p:nvSpPr>
        <p:spPr>
          <a:xfrm>
            <a:off x="5468112" y="1051560"/>
            <a:ext cx="1572768" cy="82296"/>
          </a:xfrm>
          <a:prstGeom prst="rect">
            <a:avLst/>
          </a:prstGeom>
          <a:solidFill>
            <a:srgbClr val="FFB74D"/>
          </a:solidFill>
          <a:ln cap="flat" cmpd="sng" w="12700">
            <a:solidFill>
              <a:srgbClr val="FFB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1"/>
          <p:cNvSpPr/>
          <p:nvPr/>
        </p:nvSpPr>
        <p:spPr>
          <a:xfrm>
            <a:off x="5468112" y="1161288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74D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B74D"/>
                </a:solidFill>
                <a:latin typeface="Trebuchet MS"/>
                <a:ea typeface="Trebuchet MS"/>
                <a:cs typeface="Trebuchet MS"/>
                <a:sym typeface="Trebuchet MS"/>
              </a:rPr>
              <a:t>플로우 적용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5513832" y="1581912"/>
            <a:ext cx="1481328" cy="832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POST /admin/flows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pi-nodered-apply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2" name="Google Shape;432;p11"/>
          <p:cNvCxnSpPr/>
          <p:nvPr/>
        </p:nvCxnSpPr>
        <p:spPr>
          <a:xfrm>
            <a:off x="7040880" y="1760220"/>
            <a:ext cx="109728" cy="0"/>
          </a:xfrm>
          <a:prstGeom prst="straightConnector1">
            <a:avLst/>
          </a:prstGeom>
          <a:noFill/>
          <a:ln cap="flat" cmpd="sng" w="2540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3" name="Google Shape;433;p11"/>
          <p:cNvSpPr/>
          <p:nvPr/>
        </p:nvSpPr>
        <p:spPr>
          <a:xfrm>
            <a:off x="7150608" y="1051560"/>
            <a:ext cx="1572768" cy="1417320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CE93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1"/>
          <p:cNvSpPr/>
          <p:nvPr/>
        </p:nvSpPr>
        <p:spPr>
          <a:xfrm>
            <a:off x="7150608" y="1051560"/>
            <a:ext cx="1572768" cy="82296"/>
          </a:xfrm>
          <a:prstGeom prst="rect">
            <a:avLst/>
          </a:prstGeom>
          <a:solidFill>
            <a:srgbClr val="CE93D8"/>
          </a:solidFill>
          <a:ln cap="flat" cmpd="sng" w="12700">
            <a:solidFill>
              <a:srgbClr val="CE9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1"/>
          <p:cNvSpPr/>
          <p:nvPr/>
        </p:nvSpPr>
        <p:spPr>
          <a:xfrm>
            <a:off x="7150608" y="1161288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CE93D8"/>
                </a:solidFill>
                <a:latin typeface="Trebuchet MS"/>
                <a:ea typeface="Trebuchet MS"/>
                <a:cs typeface="Trebuchet MS"/>
                <a:sym typeface="Trebuchet MS"/>
              </a:rPr>
              <a:t>서비스 재시작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1"/>
          <p:cNvSpPr/>
          <p:nvPr/>
        </p:nvSpPr>
        <p:spPr>
          <a:xfrm>
            <a:off x="7196328" y="1581912"/>
            <a:ext cx="1481328" cy="832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systemctl restart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nodered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1"/>
          <p:cNvSpPr/>
          <p:nvPr/>
        </p:nvSpPr>
        <p:spPr>
          <a:xfrm>
            <a:off x="365760" y="269748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C9A7"/>
                </a:solidFill>
                <a:latin typeface="Trebuchet MS"/>
                <a:ea typeface="Trebuchet MS"/>
                <a:cs typeface="Trebuchet MS"/>
                <a:sym typeface="Trebuchet MS"/>
              </a:rPr>
              <a:t>Node-RED 분할 플로우 파일 (로컬 편집)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1"/>
          <p:cNvSpPr/>
          <p:nvPr/>
        </p:nvSpPr>
        <p:spPr>
          <a:xfrm>
            <a:off x="365760" y="3063240"/>
            <a:ext cx="5303520" cy="338328"/>
          </a:xfrm>
          <a:prstGeom prst="rect">
            <a:avLst/>
          </a:prstGeom>
          <a:solidFill>
            <a:srgbClr val="0D1E30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1"/>
          <p:cNvSpPr/>
          <p:nvPr/>
        </p:nvSpPr>
        <p:spPr>
          <a:xfrm>
            <a:off x="457200" y="3063240"/>
            <a:ext cx="52120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E07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AE07A"/>
                </a:solidFill>
                <a:latin typeface="Consolas"/>
                <a:ea typeface="Consolas"/>
                <a:cs typeface="Consolas"/>
                <a:sym typeface="Consolas"/>
              </a:rPr>
              <a:t>flows_cronusfarm_dashboard.json      — /ui 대시보드 · 모니터 · 설정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1"/>
          <p:cNvSpPr/>
          <p:nvPr/>
        </p:nvSpPr>
        <p:spPr>
          <a:xfrm>
            <a:off x="365760" y="3456432"/>
            <a:ext cx="5303520" cy="338328"/>
          </a:xfrm>
          <a:prstGeom prst="rect">
            <a:avLst/>
          </a:prstGeom>
          <a:solidFill>
            <a:srgbClr val="0D1E30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1"/>
          <p:cNvSpPr/>
          <p:nvPr/>
        </p:nvSpPr>
        <p:spPr>
          <a:xfrm>
            <a:off x="457200" y="3456432"/>
            <a:ext cx="52120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E07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AE07A"/>
                </a:solidFill>
                <a:latin typeface="Consolas"/>
                <a:ea typeface="Consolas"/>
                <a:cs typeface="Consolas"/>
                <a:sym typeface="Consolas"/>
              </a:rPr>
              <a:t>flows_cronusfarm_mqtt.json           — MQTT · tele · SQLite HTTP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365760" y="3849624"/>
            <a:ext cx="5303520" cy="338328"/>
          </a:xfrm>
          <a:prstGeom prst="rect">
            <a:avLst/>
          </a:prstGeom>
          <a:solidFill>
            <a:srgbClr val="0D1E30"/>
          </a:solidFill>
          <a:ln cap="flat" cmpd="sng" w="12700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1"/>
          <p:cNvSpPr/>
          <p:nvPr/>
        </p:nvSpPr>
        <p:spPr>
          <a:xfrm>
            <a:off x="457200" y="3849624"/>
            <a:ext cx="52120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E07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AE07A"/>
                </a:solidFill>
                <a:latin typeface="Consolas"/>
                <a:ea typeface="Consolas"/>
                <a:cs typeface="Consolas"/>
                <a:sym typeface="Consolas"/>
              </a:rPr>
              <a:t>flows_cronusfarm_devflow_flow.json   — 개발환경 탭 · PHW3988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5852160" y="269748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74D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B74D"/>
                </a:solidFill>
                <a:latin typeface="Trebuchet MS"/>
                <a:ea typeface="Trebuchet MS"/>
                <a:cs typeface="Trebuchet MS"/>
                <a:sym typeface="Trebuchet MS"/>
              </a:rPr>
              <a:t>배포 핵심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5852160" y="3063240"/>
            <a:ext cx="29260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정본은 PC 저장소 JSON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5852160" y="3438144"/>
            <a:ext cx="29260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B74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B74D"/>
                </a:solidFill>
                <a:latin typeface="Calibri"/>
                <a:ea typeface="Calibri"/>
                <a:cs typeface="Calibri"/>
                <a:sym typeface="Calibri"/>
              </a:rPr>
              <a:t>scp 복사만으론 미반영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5852160" y="3813048"/>
            <a:ext cx="29260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POST /admin/flows 필수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1"/>
          <p:cNvSpPr/>
          <p:nvPr/>
        </p:nvSpPr>
        <p:spPr>
          <a:xfrm>
            <a:off x="5852160" y="4187952"/>
            <a:ext cx="29260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기존 flows.json 자동 백업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5852160" y="4562856"/>
            <a:ext cx="29260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6CC8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6CC8E"/>
                </a:solidFill>
                <a:latin typeface="Calibri"/>
                <a:ea typeface="Calibri"/>
                <a:cs typeface="Calibri"/>
                <a:sym typeface="Calibri"/>
              </a:rPr>
              <a:t>upcode.ps1 로 Git + 배포 통합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365760" y="4325112"/>
            <a:ext cx="8412480" cy="658368"/>
          </a:xfrm>
          <a:prstGeom prst="rect">
            <a:avLst/>
          </a:prstGeom>
          <a:solidFill>
            <a:srgbClr val="0D1E30"/>
          </a:solidFill>
          <a:ln cap="flat" cmpd="sng" w="12700">
            <a:solidFill>
              <a:srgbClr val="56CC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1"/>
          <p:cNvSpPr/>
          <p:nvPr/>
        </p:nvSpPr>
        <p:spPr>
          <a:xfrm>
            <a:off x="502920" y="436168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CC8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6CC8E"/>
                </a:solidFill>
                <a:latin typeface="Calibri"/>
                <a:ea typeface="Calibri"/>
                <a:cs typeface="Calibri"/>
                <a:sym typeface="Calibri"/>
              </a:rPr>
              <a:t>upcode (Windows 통합 커맨드)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502920" y="4608576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E07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9AE07A"/>
                </a:solidFill>
                <a:latin typeface="Consolas"/>
                <a:ea typeface="Consolas"/>
                <a:cs typeface="Consolas"/>
                <a:sym typeface="Consolas"/>
              </a:rPr>
              <a:t>cd D:\WorkSpace\Study\MyCode\Cursor\CronusFarm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E07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9AE07A"/>
                </a:solidFill>
                <a:latin typeface="Consolas"/>
                <a:ea typeface="Consolas"/>
                <a:cs typeface="Consolas"/>
                <a:sym typeface="Consolas"/>
              </a:rPr>
              <a:t>powershell -NoProfile -ExecutionPolicy Bypass -File .\scripts\upcode.ps1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2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Node-RED 경로 · 런타임 구조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C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B9CC4"/>
                </a:solidFill>
                <a:latin typeface="Calibri"/>
                <a:ea typeface="Calibri"/>
                <a:cs typeface="Calibri"/>
                <a:sym typeface="Calibri"/>
              </a:rPr>
              <a:t>로컬 개발 경로 → Pi 런타임 경로 · Dashboard 1 제어 흐름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365760" y="10058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C9A7"/>
                </a:solidFill>
                <a:latin typeface="Trebuchet MS"/>
                <a:ea typeface="Trebuchet MS"/>
                <a:cs typeface="Trebuchet MS"/>
                <a:sym typeface="Trebuchet MS"/>
              </a:rPr>
              <a:t>파일 경로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365760" y="1353312"/>
            <a:ext cx="2011680" cy="347472"/>
          </a:xfrm>
          <a:prstGeom prst="rect">
            <a:avLst/>
          </a:prstGeom>
          <a:solidFill>
            <a:srgbClr val="122B4A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2"/>
          <p:cNvSpPr/>
          <p:nvPr/>
        </p:nvSpPr>
        <p:spPr>
          <a:xfrm>
            <a:off x="2395728" y="1353312"/>
            <a:ext cx="6400800" cy="347472"/>
          </a:xfrm>
          <a:prstGeom prst="rect">
            <a:avLst/>
          </a:prstGeom>
          <a:solidFill>
            <a:srgbClr val="0F2240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2"/>
          <p:cNvSpPr/>
          <p:nvPr/>
        </p:nvSpPr>
        <p:spPr>
          <a:xfrm>
            <a:off x="411480" y="135331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PC 저장소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2468880" y="1353312"/>
            <a:ext cx="6263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8F0FE"/>
                </a:solidFill>
                <a:latin typeface="Consolas"/>
                <a:ea typeface="Consolas"/>
                <a:cs typeface="Consolas"/>
                <a:sym typeface="Consolas"/>
              </a:rPr>
              <a:t>d:\WorkSpace\Study\MyCode\Cursor\CronusFarm\nodered\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365760" y="1755648"/>
            <a:ext cx="2011680" cy="347472"/>
          </a:xfrm>
          <a:prstGeom prst="rect">
            <a:avLst/>
          </a:prstGeom>
          <a:solidFill>
            <a:srgbClr val="122B4A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2"/>
          <p:cNvSpPr/>
          <p:nvPr/>
        </p:nvSpPr>
        <p:spPr>
          <a:xfrm>
            <a:off x="2395728" y="1755648"/>
            <a:ext cx="6400800" cy="347472"/>
          </a:xfrm>
          <a:prstGeom prst="rect">
            <a:avLst/>
          </a:prstGeom>
          <a:solidFill>
            <a:srgbClr val="0F2240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2"/>
          <p:cNvSpPr/>
          <p:nvPr/>
        </p:nvSpPr>
        <p:spPr>
          <a:xfrm>
            <a:off x="411480" y="175564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SMB 마운트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2"/>
          <p:cNvSpPr/>
          <p:nvPr/>
        </p:nvSpPr>
        <p:spPr>
          <a:xfrm>
            <a:off x="2468880" y="1755648"/>
            <a:ext cx="6263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8F0FE"/>
                </a:solidFill>
                <a:latin typeface="Consolas"/>
                <a:ea typeface="Consolas"/>
                <a:cs typeface="Consolas"/>
                <a:sym typeface="Consolas"/>
              </a:rPr>
              <a:t>\\ida.mango-larch.ts.net\MyCode → /home/dooly/CronusFarm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2"/>
          <p:cNvSpPr/>
          <p:nvPr/>
        </p:nvSpPr>
        <p:spPr>
          <a:xfrm>
            <a:off x="365760" y="2157984"/>
            <a:ext cx="2011680" cy="347472"/>
          </a:xfrm>
          <a:prstGeom prst="rect">
            <a:avLst/>
          </a:prstGeom>
          <a:solidFill>
            <a:srgbClr val="122B4A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2"/>
          <p:cNvSpPr/>
          <p:nvPr/>
        </p:nvSpPr>
        <p:spPr>
          <a:xfrm>
            <a:off x="2395728" y="2157984"/>
            <a:ext cx="6400800" cy="347472"/>
          </a:xfrm>
          <a:prstGeom prst="rect">
            <a:avLst/>
          </a:prstGeom>
          <a:solidFill>
            <a:srgbClr val="0F2240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2"/>
          <p:cNvSpPr/>
          <p:nvPr/>
        </p:nvSpPr>
        <p:spPr>
          <a:xfrm>
            <a:off x="411480" y="2157984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Pi 복사본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2"/>
          <p:cNvSpPr/>
          <p:nvPr/>
        </p:nvSpPr>
        <p:spPr>
          <a:xfrm>
            <a:off x="2468880" y="2157984"/>
            <a:ext cx="6263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8F0FE"/>
                </a:solidFill>
                <a:latin typeface="Consolas"/>
                <a:ea typeface="Consolas"/>
                <a:cs typeface="Consolas"/>
                <a:sym typeface="Consolas"/>
              </a:rPr>
              <a:t>/home/dooly/CronusFarm/nodered/merged-deploy.json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2"/>
          <p:cNvSpPr/>
          <p:nvPr/>
        </p:nvSpPr>
        <p:spPr>
          <a:xfrm>
            <a:off x="365760" y="2560320"/>
            <a:ext cx="2011680" cy="347472"/>
          </a:xfrm>
          <a:prstGeom prst="rect">
            <a:avLst/>
          </a:prstGeom>
          <a:solidFill>
            <a:srgbClr val="122B4A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2"/>
          <p:cNvSpPr/>
          <p:nvPr/>
        </p:nvSpPr>
        <p:spPr>
          <a:xfrm>
            <a:off x="2395728" y="2560320"/>
            <a:ext cx="6400800" cy="347472"/>
          </a:xfrm>
          <a:prstGeom prst="rect">
            <a:avLst/>
          </a:prstGeom>
          <a:solidFill>
            <a:srgbClr val="0F2240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2"/>
          <p:cNvSpPr/>
          <p:nvPr/>
        </p:nvSpPr>
        <p:spPr>
          <a:xfrm>
            <a:off x="411480" y="256032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NR 실행 파일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2"/>
          <p:cNvSpPr/>
          <p:nvPr/>
        </p:nvSpPr>
        <p:spPr>
          <a:xfrm>
            <a:off x="2468880" y="2560320"/>
            <a:ext cx="6263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8F0FE"/>
                </a:solidFill>
                <a:latin typeface="Consolas"/>
                <a:ea typeface="Consolas"/>
                <a:cs typeface="Consolas"/>
                <a:sym typeface="Consolas"/>
              </a:rPr>
              <a:t>/home/dooly/.node-red/flows.json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2"/>
          <p:cNvSpPr/>
          <p:nvPr/>
        </p:nvSpPr>
        <p:spPr>
          <a:xfrm>
            <a:off x="365760" y="2962656"/>
            <a:ext cx="2011680" cy="347472"/>
          </a:xfrm>
          <a:prstGeom prst="rect">
            <a:avLst/>
          </a:prstGeom>
          <a:solidFill>
            <a:srgbClr val="122B4A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2"/>
          <p:cNvSpPr/>
          <p:nvPr/>
        </p:nvSpPr>
        <p:spPr>
          <a:xfrm>
            <a:off x="2395728" y="2962656"/>
            <a:ext cx="6400800" cy="347472"/>
          </a:xfrm>
          <a:prstGeom prst="rect">
            <a:avLst/>
          </a:prstGeom>
          <a:solidFill>
            <a:srgbClr val="0F2240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2"/>
          <p:cNvSpPr/>
          <p:nvPr/>
        </p:nvSpPr>
        <p:spPr>
          <a:xfrm>
            <a:off x="411480" y="2962656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NR systemd env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2"/>
          <p:cNvSpPr/>
          <p:nvPr/>
        </p:nvSpPr>
        <p:spPr>
          <a:xfrm>
            <a:off x="2468880" y="2962656"/>
            <a:ext cx="6263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8F0FE"/>
                </a:solidFill>
                <a:latin typeface="Consolas"/>
                <a:ea typeface="Consolas"/>
                <a:cs typeface="Consolas"/>
                <a:sym typeface="Consolas"/>
              </a:rPr>
              <a:t>/etc/systemd/system/nodered.service.d/cronusfarm-influx.conf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365760" y="3364992"/>
            <a:ext cx="2011680" cy="347472"/>
          </a:xfrm>
          <a:prstGeom prst="rect">
            <a:avLst/>
          </a:prstGeom>
          <a:solidFill>
            <a:srgbClr val="122B4A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2"/>
          <p:cNvSpPr/>
          <p:nvPr/>
        </p:nvSpPr>
        <p:spPr>
          <a:xfrm>
            <a:off x="2395728" y="3364992"/>
            <a:ext cx="6400800" cy="347472"/>
          </a:xfrm>
          <a:prstGeom prst="rect">
            <a:avLst/>
          </a:prstGeom>
          <a:solidFill>
            <a:srgbClr val="0F2240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2"/>
          <p:cNvSpPr/>
          <p:nvPr/>
        </p:nvSpPr>
        <p:spPr>
          <a:xfrm>
            <a:off x="411480" y="336499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Grafana 대시보드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2"/>
          <p:cNvSpPr/>
          <p:nvPr/>
        </p:nvSpPr>
        <p:spPr>
          <a:xfrm>
            <a:off x="2468880" y="3364992"/>
            <a:ext cx="6263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8F0FE"/>
                </a:solidFill>
                <a:latin typeface="Consolas"/>
                <a:ea typeface="Consolas"/>
                <a:cs typeface="Consolas"/>
                <a:sym typeface="Consolas"/>
              </a:rPr>
              <a:t>/var/lib/grafana/dashboards/cronusfarm_operator_ui.json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365760" y="3767328"/>
            <a:ext cx="2011680" cy="347472"/>
          </a:xfrm>
          <a:prstGeom prst="rect">
            <a:avLst/>
          </a:prstGeom>
          <a:solidFill>
            <a:srgbClr val="122B4A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2"/>
          <p:cNvSpPr/>
          <p:nvPr/>
        </p:nvSpPr>
        <p:spPr>
          <a:xfrm>
            <a:off x="2395728" y="3767328"/>
            <a:ext cx="6400800" cy="347472"/>
          </a:xfrm>
          <a:prstGeom prst="rect">
            <a:avLst/>
          </a:prstGeom>
          <a:solidFill>
            <a:srgbClr val="0F2240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2"/>
          <p:cNvSpPr/>
          <p:nvPr/>
        </p:nvSpPr>
        <p:spPr>
          <a:xfrm>
            <a:off x="411480" y="376732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CCTV 저장 (USB)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2468880" y="3767328"/>
            <a:ext cx="6263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8F0FE"/>
                </a:solidFill>
                <a:latin typeface="Consolas"/>
                <a:ea typeface="Consolas"/>
                <a:cs typeface="Consolas"/>
                <a:sym typeface="Consolas"/>
              </a:rPr>
              <a:t>/mnt/usb/CCTV/cam01/  ·  백필: kma_backfill_influx.py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365760" y="4206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74D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B74D"/>
                </a:solidFill>
                <a:latin typeface="Trebuchet MS"/>
                <a:ea typeface="Trebuchet MS"/>
                <a:cs typeface="Trebuchet MS"/>
                <a:sym typeface="Trebuchet MS"/>
              </a:rPr>
              <a:t>제어 흐름 (목표)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365760" y="4526280"/>
            <a:ext cx="1691640" cy="594360"/>
          </a:xfrm>
          <a:prstGeom prst="rect">
            <a:avLst/>
          </a:prstGeom>
          <a:solidFill>
            <a:srgbClr val="0F2240"/>
          </a:solidFill>
          <a:ln cap="flat" cmpd="sng" w="228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2"/>
          <p:cNvSpPr/>
          <p:nvPr/>
        </p:nvSpPr>
        <p:spPr>
          <a:xfrm>
            <a:off x="365760" y="4526280"/>
            <a:ext cx="1691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4FC3F7"/>
                </a:solidFill>
                <a:latin typeface="Trebuchet MS"/>
                <a:ea typeface="Trebuchet MS"/>
                <a:cs typeface="Trebuchet MS"/>
                <a:sym typeface="Trebuchet MS"/>
              </a:rPr>
              <a:t>/ui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4FC3F7"/>
                </a:solidFill>
                <a:latin typeface="Trebuchet MS"/>
                <a:ea typeface="Trebuchet MS"/>
                <a:cs typeface="Trebuchet MS"/>
                <a:sym typeface="Trebuchet MS"/>
              </a:rPr>
              <a:t>Dashboard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3" name="Google Shape;493;p12"/>
          <p:cNvCxnSpPr/>
          <p:nvPr/>
        </p:nvCxnSpPr>
        <p:spPr>
          <a:xfrm>
            <a:off x="2057400" y="4818888"/>
            <a:ext cx="137160" cy="0"/>
          </a:xfrm>
          <a:prstGeom prst="straightConnector1">
            <a:avLst/>
          </a:prstGeom>
          <a:noFill/>
          <a:ln cap="flat" cmpd="sng" w="2285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4" name="Google Shape;494;p12"/>
          <p:cNvSpPr/>
          <p:nvPr/>
        </p:nvSpPr>
        <p:spPr>
          <a:xfrm>
            <a:off x="2377440" y="4526280"/>
            <a:ext cx="1691640" cy="594360"/>
          </a:xfrm>
          <a:prstGeom prst="rect">
            <a:avLst/>
          </a:prstGeom>
          <a:solidFill>
            <a:srgbClr val="0F2240"/>
          </a:solidFill>
          <a:ln cap="flat" cmpd="sng" w="22850">
            <a:solidFill>
              <a:srgbClr val="FFB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2"/>
          <p:cNvSpPr/>
          <p:nvPr/>
        </p:nvSpPr>
        <p:spPr>
          <a:xfrm>
            <a:off x="2377440" y="4526280"/>
            <a:ext cx="1691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74D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B74D"/>
                </a:solidFill>
                <a:latin typeface="Trebuchet MS"/>
                <a:ea typeface="Trebuchet MS"/>
                <a:cs typeface="Trebuchet MS"/>
                <a:sym typeface="Trebuchet MS"/>
              </a:rPr>
              <a:t>NR MQTT 탭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6" name="Google Shape;496;p12"/>
          <p:cNvCxnSpPr/>
          <p:nvPr/>
        </p:nvCxnSpPr>
        <p:spPr>
          <a:xfrm>
            <a:off x="4069080" y="4818888"/>
            <a:ext cx="137160" cy="0"/>
          </a:xfrm>
          <a:prstGeom prst="straightConnector1">
            <a:avLst/>
          </a:prstGeom>
          <a:noFill/>
          <a:ln cap="flat" cmpd="sng" w="2285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7" name="Google Shape;497;p12"/>
          <p:cNvSpPr/>
          <p:nvPr/>
        </p:nvSpPr>
        <p:spPr>
          <a:xfrm>
            <a:off x="4389120" y="4526280"/>
            <a:ext cx="1691640" cy="594360"/>
          </a:xfrm>
          <a:prstGeom prst="rect">
            <a:avLst/>
          </a:prstGeom>
          <a:solidFill>
            <a:srgbClr val="0F2240"/>
          </a:solidFill>
          <a:ln cap="flat" cmpd="sng" w="2285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2"/>
          <p:cNvSpPr/>
          <p:nvPr/>
        </p:nvSpPr>
        <p:spPr>
          <a:xfrm>
            <a:off x="4389120" y="4526280"/>
            <a:ext cx="1691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C9A7"/>
                </a:solidFill>
                <a:latin typeface="Trebuchet MS"/>
                <a:ea typeface="Trebuchet MS"/>
                <a:cs typeface="Trebuchet MS"/>
                <a:sym typeface="Trebuchet MS"/>
              </a:rPr>
              <a:t>SQLite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C9A7"/>
                </a:solidFill>
                <a:latin typeface="Trebuchet MS"/>
                <a:ea typeface="Trebuchet MS"/>
                <a:cs typeface="Trebuchet MS"/>
                <a:sym typeface="Trebuchet MS"/>
              </a:rPr>
              <a:t>bridge :18766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9" name="Google Shape;499;p12"/>
          <p:cNvCxnSpPr/>
          <p:nvPr/>
        </p:nvCxnSpPr>
        <p:spPr>
          <a:xfrm>
            <a:off x="6080760" y="4818888"/>
            <a:ext cx="137160" cy="0"/>
          </a:xfrm>
          <a:prstGeom prst="straightConnector1">
            <a:avLst/>
          </a:prstGeom>
          <a:noFill/>
          <a:ln cap="flat" cmpd="sng" w="2285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0" name="Google Shape;500;p12"/>
          <p:cNvSpPr/>
          <p:nvPr/>
        </p:nvSpPr>
        <p:spPr>
          <a:xfrm>
            <a:off x="6217920" y="4526280"/>
            <a:ext cx="1691640" cy="594360"/>
          </a:xfrm>
          <a:prstGeom prst="rect">
            <a:avLst/>
          </a:prstGeom>
          <a:solidFill>
            <a:srgbClr val="0F2240"/>
          </a:solidFill>
          <a:ln cap="flat" cmpd="sng" w="228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2"/>
          <p:cNvSpPr/>
          <p:nvPr/>
        </p:nvSpPr>
        <p:spPr>
          <a:xfrm>
            <a:off x="6217920" y="4526280"/>
            <a:ext cx="1691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4FC3F7"/>
                </a:solidFill>
                <a:latin typeface="Trebuchet MS"/>
                <a:ea typeface="Trebuchet MS"/>
                <a:cs typeface="Trebuchet MS"/>
                <a:sym typeface="Trebuchet MS"/>
              </a:rPr>
              <a:t>Mosquitto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2" name="Google Shape;502;p12"/>
          <p:cNvCxnSpPr/>
          <p:nvPr/>
        </p:nvCxnSpPr>
        <p:spPr>
          <a:xfrm>
            <a:off x="7909560" y="4818888"/>
            <a:ext cx="137160" cy="0"/>
          </a:xfrm>
          <a:prstGeom prst="straightConnector1">
            <a:avLst/>
          </a:prstGeom>
          <a:noFill/>
          <a:ln cap="flat" cmpd="sng" w="22850">
            <a:solidFill>
              <a:srgbClr val="7B9C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3" name="Google Shape;503;p12"/>
          <p:cNvSpPr/>
          <p:nvPr/>
        </p:nvSpPr>
        <p:spPr>
          <a:xfrm>
            <a:off x="7955280" y="4526280"/>
            <a:ext cx="1691640" cy="594360"/>
          </a:xfrm>
          <a:prstGeom prst="rect">
            <a:avLst/>
          </a:prstGeom>
          <a:solidFill>
            <a:srgbClr val="0F2240"/>
          </a:solidFill>
          <a:ln cap="flat" cmpd="sng" w="22850">
            <a:solidFill>
              <a:srgbClr val="56CC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2"/>
          <p:cNvSpPr/>
          <p:nvPr/>
        </p:nvSpPr>
        <p:spPr>
          <a:xfrm>
            <a:off x="7955280" y="4526280"/>
            <a:ext cx="1691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CC8E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56CC8E"/>
                </a:solidFill>
                <a:latin typeface="Trebuchet MS"/>
                <a:ea typeface="Trebuchet MS"/>
                <a:cs typeface="Trebuchet MS"/>
                <a:sym typeface="Trebuchet MS"/>
              </a:rPr>
              <a:t>Arduino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CC8E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56CC8E"/>
                </a:solidFill>
                <a:latin typeface="Trebuchet MS"/>
                <a:ea typeface="Trebuchet MS"/>
                <a:cs typeface="Trebuchet MS"/>
                <a:sym typeface="Trebuchet MS"/>
              </a:rPr>
              <a:t>R4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2"/>
          <p:cNvSpPr/>
          <p:nvPr/>
        </p:nvSpPr>
        <p:spPr>
          <a:xfrm>
            <a:off x="365760" y="516636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CC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B9CC4"/>
                </a:solidFill>
                <a:latin typeface="Calibri"/>
                <a:ea typeface="Calibri"/>
                <a:cs typeface="Calibri"/>
                <a:sym typeface="Calibri"/>
              </a:rPr>
              <a:t>nginx /farm/* → NR:1882 → bridge · SCHED_JSON·채널 cmd → MQTT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3"/>
          <p:cNvSpPr/>
          <p:nvPr/>
        </p:nvSpPr>
        <p:spPr>
          <a:xfrm>
            <a:off x="6217920" y="-822960"/>
            <a:ext cx="4114800" cy="4114800"/>
          </a:xfrm>
          <a:prstGeom prst="ellipse">
            <a:avLst/>
          </a:prstGeom>
          <a:solidFill>
            <a:srgbClr val="00C9A7">
              <a:alpha val="7843"/>
            </a:srgbClr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3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호스트 · URL · 핵심 요약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3"/>
          <p:cNvSpPr/>
          <p:nvPr/>
        </p:nvSpPr>
        <p:spPr>
          <a:xfrm>
            <a:off x="365760" y="841248"/>
            <a:ext cx="2468880" cy="420624"/>
          </a:xfrm>
          <a:prstGeom prst="rect">
            <a:avLst/>
          </a:prstGeom>
          <a:solidFill>
            <a:srgbClr val="122B4A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3"/>
          <p:cNvSpPr/>
          <p:nvPr/>
        </p:nvSpPr>
        <p:spPr>
          <a:xfrm>
            <a:off x="2852928" y="841248"/>
            <a:ext cx="5943600" cy="420624"/>
          </a:xfrm>
          <a:prstGeom prst="rect">
            <a:avLst/>
          </a:prstGeom>
          <a:solidFill>
            <a:srgbClr val="0F2240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3"/>
          <p:cNvSpPr/>
          <p:nvPr/>
        </p:nvSpPr>
        <p:spPr>
          <a:xfrm>
            <a:off x="411480" y="841248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Pi 호스트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3"/>
          <p:cNvSpPr/>
          <p:nvPr/>
        </p:nvSpPr>
        <p:spPr>
          <a:xfrm>
            <a:off x="2926080" y="841248"/>
            <a:ext cx="5806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F0FE"/>
                </a:solidFill>
                <a:latin typeface="Consolas"/>
                <a:ea typeface="Consolas"/>
                <a:cs typeface="Consolas"/>
                <a:sym typeface="Consolas"/>
              </a:rPr>
              <a:t>ida  ·  LAN 192.168.60.222  ·  Tailscale ida.mango-larch.ts.net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3"/>
          <p:cNvSpPr/>
          <p:nvPr/>
        </p:nvSpPr>
        <p:spPr>
          <a:xfrm>
            <a:off x="365760" y="1316736"/>
            <a:ext cx="2468880" cy="420624"/>
          </a:xfrm>
          <a:prstGeom prst="rect">
            <a:avLst/>
          </a:prstGeom>
          <a:solidFill>
            <a:srgbClr val="122B4A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3"/>
          <p:cNvSpPr/>
          <p:nvPr/>
        </p:nvSpPr>
        <p:spPr>
          <a:xfrm>
            <a:off x="2852928" y="1316736"/>
            <a:ext cx="5943600" cy="420624"/>
          </a:xfrm>
          <a:prstGeom prst="rect">
            <a:avLst/>
          </a:prstGeom>
          <a:solidFill>
            <a:srgbClr val="0F2240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3"/>
          <p:cNvSpPr/>
          <p:nvPr/>
        </p:nvSpPr>
        <p:spPr>
          <a:xfrm>
            <a:off x="411480" y="1316736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Node-RED 런타임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3"/>
          <p:cNvSpPr/>
          <p:nvPr/>
        </p:nvSpPr>
        <p:spPr>
          <a:xfrm>
            <a:off x="2926080" y="1316736"/>
            <a:ext cx="5806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F0FE"/>
                </a:solidFill>
                <a:latin typeface="Consolas"/>
                <a:ea typeface="Consolas"/>
                <a:cs typeface="Consolas"/>
                <a:sym typeface="Consolas"/>
              </a:rPr>
              <a:t>/home/dooly/.node-red/flows.json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3"/>
          <p:cNvSpPr/>
          <p:nvPr/>
        </p:nvSpPr>
        <p:spPr>
          <a:xfrm>
            <a:off x="365760" y="1792224"/>
            <a:ext cx="2468880" cy="420624"/>
          </a:xfrm>
          <a:prstGeom prst="rect">
            <a:avLst/>
          </a:prstGeom>
          <a:solidFill>
            <a:srgbClr val="122B4A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3"/>
          <p:cNvSpPr/>
          <p:nvPr/>
        </p:nvSpPr>
        <p:spPr>
          <a:xfrm>
            <a:off x="2852928" y="1792224"/>
            <a:ext cx="5943600" cy="420624"/>
          </a:xfrm>
          <a:prstGeom prst="rect">
            <a:avLst/>
          </a:prstGeom>
          <a:solidFill>
            <a:srgbClr val="0F2240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3"/>
          <p:cNvSpPr/>
          <p:nvPr/>
        </p:nvSpPr>
        <p:spPr>
          <a:xfrm>
            <a:off x="411480" y="1792224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Grafana 대시보드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3"/>
          <p:cNvSpPr/>
          <p:nvPr/>
        </p:nvSpPr>
        <p:spPr>
          <a:xfrm>
            <a:off x="2926080" y="1792224"/>
            <a:ext cx="5806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F0FE"/>
                </a:solidFill>
                <a:latin typeface="Consolas"/>
                <a:ea typeface="Consolas"/>
                <a:cs typeface="Consolas"/>
                <a:sym typeface="Consolas"/>
              </a:rPr>
              <a:t>/var/lib/grafana/dashboards/cronusfarm_operator_ui.json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3"/>
          <p:cNvSpPr/>
          <p:nvPr/>
        </p:nvSpPr>
        <p:spPr>
          <a:xfrm>
            <a:off x="365760" y="2267712"/>
            <a:ext cx="2468880" cy="420624"/>
          </a:xfrm>
          <a:prstGeom prst="rect">
            <a:avLst/>
          </a:prstGeom>
          <a:solidFill>
            <a:srgbClr val="122B4A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3"/>
          <p:cNvSpPr/>
          <p:nvPr/>
        </p:nvSpPr>
        <p:spPr>
          <a:xfrm>
            <a:off x="2852928" y="2267712"/>
            <a:ext cx="5943600" cy="420624"/>
          </a:xfrm>
          <a:prstGeom prst="rect">
            <a:avLst/>
          </a:prstGeom>
          <a:solidFill>
            <a:srgbClr val="0F2240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3"/>
          <p:cNvSpPr/>
          <p:nvPr/>
        </p:nvSpPr>
        <p:spPr>
          <a:xfrm>
            <a:off x="411480" y="2267712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Hailo MJPEG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3"/>
          <p:cNvSpPr/>
          <p:nvPr/>
        </p:nvSpPr>
        <p:spPr>
          <a:xfrm>
            <a:off x="2926080" y="2267712"/>
            <a:ext cx="5806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F0FE"/>
                </a:solidFill>
                <a:latin typeface="Consolas"/>
                <a:ea typeface="Consolas"/>
                <a:cs typeface="Consolas"/>
                <a:sym typeface="Consolas"/>
              </a:rPr>
              <a:t>/farm/hailo-mjpeg/video_feed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3"/>
          <p:cNvSpPr/>
          <p:nvPr/>
        </p:nvSpPr>
        <p:spPr>
          <a:xfrm>
            <a:off x="365760" y="2743200"/>
            <a:ext cx="2468880" cy="420624"/>
          </a:xfrm>
          <a:prstGeom prst="rect">
            <a:avLst/>
          </a:prstGeom>
          <a:solidFill>
            <a:srgbClr val="122B4A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3"/>
          <p:cNvSpPr/>
          <p:nvPr/>
        </p:nvSpPr>
        <p:spPr>
          <a:xfrm>
            <a:off x="2852928" y="2743200"/>
            <a:ext cx="5943600" cy="420624"/>
          </a:xfrm>
          <a:prstGeom prst="rect">
            <a:avLst/>
          </a:prstGeom>
          <a:solidFill>
            <a:srgbClr val="0F2240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3"/>
          <p:cNvSpPr/>
          <p:nvPr/>
        </p:nvSpPr>
        <p:spPr>
          <a:xfrm>
            <a:off x="411480" y="2743200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CCTV 저장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3"/>
          <p:cNvSpPr/>
          <p:nvPr/>
        </p:nvSpPr>
        <p:spPr>
          <a:xfrm>
            <a:off x="2926080" y="2743200"/>
            <a:ext cx="5806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F0FE"/>
                </a:solidFill>
                <a:latin typeface="Consolas"/>
                <a:ea typeface="Consolas"/>
                <a:cs typeface="Consolas"/>
                <a:sym typeface="Consolas"/>
              </a:rPr>
              <a:t>/mnt/usb/CCTV/cam01/  ·  Snap URL :1880/cctv/cam01/latest.jpg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3"/>
          <p:cNvSpPr/>
          <p:nvPr/>
        </p:nvSpPr>
        <p:spPr>
          <a:xfrm>
            <a:off x="365760" y="3218688"/>
            <a:ext cx="2468880" cy="420624"/>
          </a:xfrm>
          <a:prstGeom prst="rect">
            <a:avLst/>
          </a:prstGeom>
          <a:solidFill>
            <a:srgbClr val="122B4A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3"/>
          <p:cNvSpPr/>
          <p:nvPr/>
        </p:nvSpPr>
        <p:spPr>
          <a:xfrm>
            <a:off x="2852928" y="3218688"/>
            <a:ext cx="5943600" cy="420624"/>
          </a:xfrm>
          <a:prstGeom prst="rect">
            <a:avLst/>
          </a:prstGeom>
          <a:solidFill>
            <a:srgbClr val="0F2240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3"/>
          <p:cNvSpPr/>
          <p:nvPr/>
        </p:nvSpPr>
        <p:spPr>
          <a:xfrm>
            <a:off x="411480" y="3218688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farm-ui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3"/>
          <p:cNvSpPr/>
          <p:nvPr/>
        </p:nvSpPr>
        <p:spPr>
          <a:xfrm>
            <a:off x="2926080" y="3218688"/>
            <a:ext cx="5806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F0FE"/>
                </a:solidFill>
                <a:latin typeface="Consolas"/>
                <a:ea typeface="Consolas"/>
                <a:cs typeface="Consolas"/>
                <a:sym typeface="Consolas"/>
              </a:rPr>
              <a:t>http://ida.mango-larch.ts.net/ui  ·  공개: cronusfarm.duckdns.org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3"/>
          <p:cNvSpPr/>
          <p:nvPr/>
        </p:nvSpPr>
        <p:spPr>
          <a:xfrm>
            <a:off x="365760" y="376732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0C9A7"/>
                </a:solidFill>
                <a:latin typeface="Trebuchet MS"/>
                <a:ea typeface="Trebuchet MS"/>
                <a:cs typeface="Trebuchet MS"/>
                <a:sym typeface="Trebuchet MS"/>
              </a:rPr>
              <a:t>핵심 요약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3"/>
          <p:cNvSpPr/>
          <p:nvPr/>
        </p:nvSpPr>
        <p:spPr>
          <a:xfrm>
            <a:off x="365760" y="4133088"/>
            <a:ext cx="2057400" cy="841248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56CC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3"/>
          <p:cNvSpPr/>
          <p:nvPr/>
        </p:nvSpPr>
        <p:spPr>
          <a:xfrm>
            <a:off x="365760" y="4133088"/>
            <a:ext cx="64008" cy="841248"/>
          </a:xfrm>
          <a:prstGeom prst="rect">
            <a:avLst/>
          </a:prstGeom>
          <a:solidFill>
            <a:srgbClr val="56CC8E"/>
          </a:solidFill>
          <a:ln cap="flat" cmpd="sng" w="12700">
            <a:solidFill>
              <a:srgbClr val="56CC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3"/>
          <p:cNvSpPr/>
          <p:nvPr/>
        </p:nvSpPr>
        <p:spPr>
          <a:xfrm>
            <a:off x="493776" y="4187952"/>
            <a:ext cx="1874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CC8E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56CC8E"/>
                </a:solidFill>
                <a:latin typeface="Trebuchet MS"/>
                <a:ea typeface="Trebuchet MS"/>
                <a:cs typeface="Trebuchet MS"/>
                <a:sym typeface="Trebuchet MS"/>
              </a:rPr>
              <a:t>단일 점유 카메라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3"/>
          <p:cNvSpPr/>
          <p:nvPr/>
        </p:nvSpPr>
        <p:spPr>
          <a:xfrm>
            <a:off x="493776" y="4535424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ustreamer만 정식 · 레거시 mask 필수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3"/>
          <p:cNvSpPr/>
          <p:nvPr/>
        </p:nvSpPr>
        <p:spPr>
          <a:xfrm>
            <a:off x="2542032" y="4133088"/>
            <a:ext cx="2057400" cy="841248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FFB74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3"/>
          <p:cNvSpPr/>
          <p:nvPr/>
        </p:nvSpPr>
        <p:spPr>
          <a:xfrm>
            <a:off x="2542032" y="4133088"/>
            <a:ext cx="64008" cy="841248"/>
          </a:xfrm>
          <a:prstGeom prst="rect">
            <a:avLst/>
          </a:prstGeom>
          <a:solidFill>
            <a:srgbClr val="FFB74D"/>
          </a:solidFill>
          <a:ln cap="flat" cmpd="sng" w="12700">
            <a:solidFill>
              <a:srgbClr val="FFB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3"/>
          <p:cNvSpPr/>
          <p:nvPr/>
        </p:nvSpPr>
        <p:spPr>
          <a:xfrm>
            <a:off x="2670048" y="4187952"/>
            <a:ext cx="1874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74D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B74D"/>
                </a:solidFill>
                <a:latin typeface="Trebuchet MS"/>
                <a:ea typeface="Trebuchet MS"/>
                <a:cs typeface="Trebuchet MS"/>
                <a:sym typeface="Trebuchet MS"/>
              </a:rPr>
              <a:t>USB primary 통신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3"/>
          <p:cNvSpPr/>
          <p:nvPr/>
        </p:nvSpPr>
        <p:spPr>
          <a:xfrm>
            <a:off x="2670048" y="4535424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MQTT offline 무관 · tele 1Hz면 정상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3"/>
          <p:cNvSpPr/>
          <p:nvPr/>
        </p:nvSpPr>
        <p:spPr>
          <a:xfrm>
            <a:off x="4718304" y="4133088"/>
            <a:ext cx="2057400" cy="841248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3"/>
          <p:cNvSpPr/>
          <p:nvPr/>
        </p:nvSpPr>
        <p:spPr>
          <a:xfrm>
            <a:off x="4718304" y="4133088"/>
            <a:ext cx="64008" cy="841248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3"/>
          <p:cNvSpPr/>
          <p:nvPr/>
        </p:nvSpPr>
        <p:spPr>
          <a:xfrm>
            <a:off x="4846320" y="4187952"/>
            <a:ext cx="1874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4FC3F7"/>
                </a:solidFill>
                <a:latin typeface="Trebuchet MS"/>
                <a:ea typeface="Trebuchet MS"/>
                <a:cs typeface="Trebuchet MS"/>
                <a:sym typeface="Trebuchet MS"/>
              </a:rPr>
              <a:t>저장소 정본 관리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3"/>
          <p:cNvSpPr/>
          <p:nvPr/>
        </p:nvSpPr>
        <p:spPr>
          <a:xfrm>
            <a:off x="4846320" y="4535424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PC JSON → merge → POST /admin/flows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3"/>
          <p:cNvSpPr/>
          <p:nvPr/>
        </p:nvSpPr>
        <p:spPr>
          <a:xfrm>
            <a:off x="6894576" y="4133088"/>
            <a:ext cx="2057400" cy="841248"/>
          </a:xfrm>
          <a:prstGeom prst="rect">
            <a:avLst/>
          </a:prstGeom>
          <a:solidFill>
            <a:srgbClr val="0F2240"/>
          </a:solidFill>
          <a:ln cap="flat" cmpd="sng" w="25400">
            <a:solidFill>
              <a:srgbClr val="CE93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3"/>
          <p:cNvSpPr/>
          <p:nvPr/>
        </p:nvSpPr>
        <p:spPr>
          <a:xfrm>
            <a:off x="6894576" y="4133088"/>
            <a:ext cx="64008" cy="841248"/>
          </a:xfrm>
          <a:prstGeom prst="rect">
            <a:avLst/>
          </a:prstGeom>
          <a:solidFill>
            <a:srgbClr val="CE93D8"/>
          </a:solidFill>
          <a:ln cap="flat" cmpd="sng" w="12700">
            <a:solidFill>
              <a:srgbClr val="CE9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3"/>
          <p:cNvSpPr/>
          <p:nvPr/>
        </p:nvSpPr>
        <p:spPr>
          <a:xfrm>
            <a:off x="7022592" y="4187952"/>
            <a:ext cx="1874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93D8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CE93D8"/>
                </a:solidFill>
                <a:latin typeface="Trebuchet MS"/>
                <a:ea typeface="Trebuchet MS"/>
                <a:cs typeface="Trebuchet MS"/>
                <a:sym typeface="Trebuchet MS"/>
              </a:rPr>
              <a:t>데이터 경로 이해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3"/>
          <p:cNvSpPr/>
          <p:nvPr/>
        </p:nvSpPr>
        <p:spPr>
          <a:xfrm>
            <a:off x="7022592" y="4535424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UI 토글 ≠ DB 변경 · tele/cmd 경유 필수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